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9" r:id="rId5"/>
    <p:sldMasterId id="2147483680" r:id="rId6"/>
    <p:sldMasterId id="2147483681" r:id="rId7"/>
  </p:sldMasterIdLst>
  <p:notesMasterIdLst>
    <p:notesMasterId r:id="rId8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</p:sldIdLst>
  <p:sldSz cy="5143500" cx="9144000"/>
  <p:notesSz cx="6858000" cy="9144000"/>
  <p:embeddedFontLst>
    <p:embeddedFont>
      <p:font typeface="Roboto"/>
      <p:regular r:id="rId21"/>
      <p:bold r:id="rId22"/>
      <p:italic r:id="rId23"/>
      <p:boldItalic r:id="rId24"/>
    </p:embeddedFont>
    <p:embeddedFont>
      <p:font typeface="Roboto Medium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5533">
          <p15:clr>
            <a:srgbClr val="A4A3A4"/>
          </p15:clr>
        </p15:guide>
        <p15:guide id="2" pos="397">
          <p15:clr>
            <a:srgbClr val="9AA0A6"/>
          </p15:clr>
        </p15:guide>
        <p15:guide id="3" orient="horz" pos="3240">
          <p15:clr>
            <a:srgbClr val="9AA0A6"/>
          </p15:clr>
        </p15:guide>
        <p15:guide id="4" orient="horz">
          <p15:clr>
            <a:srgbClr val="747775"/>
          </p15:clr>
        </p15:guide>
        <p15:guide id="5" orient="horz" pos="51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8346B4A-800E-4B99-96E5-E192E3A25116}">
  <a:tblStyle styleId="{78346B4A-800E-4B99-96E5-E192E3A2511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5533"/>
        <p:guide pos="397"/>
        <p:guide pos="3240" orient="horz"/>
        <p:guide orient="horz"/>
        <p:guide pos="510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2.xml"/><Relationship Id="rId22" Type="http://schemas.openxmlformats.org/officeDocument/2006/relationships/font" Target="fonts/Roboto-bold.fntdata"/><Relationship Id="rId21" Type="http://schemas.openxmlformats.org/officeDocument/2006/relationships/font" Target="fonts/Roboto-regular.fntdata"/><Relationship Id="rId24" Type="http://schemas.openxmlformats.org/officeDocument/2006/relationships/font" Target="fonts/Roboto-boldItalic.fntdata"/><Relationship Id="rId23" Type="http://schemas.openxmlformats.org/officeDocument/2006/relationships/font" Target="fonts/Roboto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1.xml"/><Relationship Id="rId26" Type="http://schemas.openxmlformats.org/officeDocument/2006/relationships/font" Target="fonts/RobotoMedium-bold.fntdata"/><Relationship Id="rId25" Type="http://schemas.openxmlformats.org/officeDocument/2006/relationships/font" Target="fonts/RobotoMedium-regular.fntdata"/><Relationship Id="rId28" Type="http://schemas.openxmlformats.org/officeDocument/2006/relationships/font" Target="fonts/RobotoMedium-boldItalic.fntdata"/><Relationship Id="rId27" Type="http://schemas.openxmlformats.org/officeDocument/2006/relationships/font" Target="fonts/RobotoMedium-italic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slideMaster" Target="slideMasters/slideMaster3.xml"/><Relationship Id="rId8" Type="http://schemas.openxmlformats.org/officeDocument/2006/relationships/notesMaster" Target="notesMasters/notesMaster1.xml"/><Relationship Id="rId11" Type="http://schemas.openxmlformats.org/officeDocument/2006/relationships/slide" Target="slides/slide3.xml"/><Relationship Id="rId10" Type="http://schemas.openxmlformats.org/officeDocument/2006/relationships/slide" Target="slides/slide2.xml"/><Relationship Id="rId13" Type="http://schemas.openxmlformats.org/officeDocument/2006/relationships/slide" Target="slides/slide5.xml"/><Relationship Id="rId12" Type="http://schemas.openxmlformats.org/officeDocument/2006/relationships/slide" Target="slides/slide4.xml"/><Relationship Id="rId15" Type="http://schemas.openxmlformats.org/officeDocument/2006/relationships/slide" Target="slides/slide7.xml"/><Relationship Id="rId14" Type="http://schemas.openxmlformats.org/officeDocument/2006/relationships/slide" Target="slides/slide6.xml"/><Relationship Id="rId17" Type="http://schemas.openxmlformats.org/officeDocument/2006/relationships/slide" Target="slides/slide9.xml"/><Relationship Id="rId16" Type="http://schemas.openxmlformats.org/officeDocument/2006/relationships/slide" Target="slides/slide8.xml"/><Relationship Id="rId19" Type="http://schemas.openxmlformats.org/officeDocument/2006/relationships/slide" Target="slides/slide11.xml"/><Relationship Id="rId18" Type="http://schemas.openxmlformats.org/officeDocument/2006/relationships/slide" Target="slides/slide10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3ce85d903d_0_0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3ce85d903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0f7d84ce1d_0_125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0f7d84ce1d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de823becd0_0_40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de823becd0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cbe2cd7752_1_4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cbe2cd7752_1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f98075b259_0_20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f98075b259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f98075b259_0_38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f98075b259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cbe2cd7752_1_40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3cbe2cd7752_1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df29b9fb24_0_69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df29b9fb24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cbe2cd7752_1_63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3cbe2cd7752_1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cbe2cd7752_1_68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3cbe2cd7752_1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f98075b259_0_51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f98075b259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104438fcaf_0_1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3104438fcaf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2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2.png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5" Type="http://schemas.openxmlformats.org/officeDocument/2006/relationships/image" Target="../media/image15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3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0" l="99" r="99" t="0"/>
          <a:stretch/>
        </p:blipFill>
        <p:spPr>
          <a:xfrm>
            <a:off x="-17925" y="-10075"/>
            <a:ext cx="9194726" cy="5182151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944650" y="4350425"/>
            <a:ext cx="8293200" cy="48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2" name="Google Shape;12;p2"/>
          <p:cNvSpPr txBox="1"/>
          <p:nvPr>
            <p:ph type="title"/>
          </p:nvPr>
        </p:nvSpPr>
        <p:spPr>
          <a:xfrm>
            <a:off x="944650" y="1769200"/>
            <a:ext cx="7379700" cy="237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Белый слайд + заголовок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500550" y="1784775"/>
            <a:ext cx="7935300" cy="114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Ваш макет 1">
  <p:cSld name="CUSTOM_5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5"/>
          <p:cNvSpPr txBox="1"/>
          <p:nvPr>
            <p:ph idx="1" type="body"/>
          </p:nvPr>
        </p:nvSpPr>
        <p:spPr>
          <a:xfrm>
            <a:off x="500550" y="1426469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23850" lvl="0" marL="45720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500"/>
              <a:buChar char="●"/>
              <a:defRPr sz="1500"/>
            </a:lvl1pPr>
            <a:lvl2pPr indent="-311150" lvl="1" marL="91440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2pPr>
            <a:lvl3pPr indent="-311150" lvl="2" marL="137160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3pPr>
            <a:lvl4pPr indent="-311150" lvl="3" marL="182880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4pPr>
            <a:lvl5pPr indent="-311150" lvl="4" marL="228600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5pPr>
            <a:lvl6pPr indent="-311150" lvl="5" marL="274320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6pPr>
            <a:lvl7pPr indent="-311150" lvl="6" marL="320040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7pPr>
            <a:lvl8pPr indent="-311150" lvl="7" marL="365760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8pPr>
            <a:lvl9pPr indent="-311150" lvl="8" marL="411480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9pPr>
          </a:lstStyle>
          <a:p/>
        </p:txBody>
      </p:sp>
      <p:sp>
        <p:nvSpPr>
          <p:cNvPr id="21" name="Google Shape;21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ема вебинара" type="twoColTx">
  <p:cSld name="TITLE_AND_TWO_COLUMN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24" name="Google Shape;24;p6"/>
          <p:cNvSpPr txBox="1"/>
          <p:nvPr>
            <p:ph type="title"/>
          </p:nvPr>
        </p:nvSpPr>
        <p:spPr>
          <a:xfrm>
            <a:off x="500550" y="821213"/>
            <a:ext cx="8520600" cy="198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" name="Google Shape;25;p6"/>
          <p:cNvSpPr txBox="1"/>
          <p:nvPr>
            <p:ph idx="1" type="subTitle"/>
          </p:nvPr>
        </p:nvSpPr>
        <p:spPr>
          <a:xfrm>
            <a:off x="500550" y="457313"/>
            <a:ext cx="77967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1500"/>
              <a:buNone/>
              <a:defRPr sz="1500">
                <a:solidFill>
                  <a:srgbClr val="013D85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9pPr>
          </a:lstStyle>
          <a:p/>
        </p:txBody>
      </p:sp>
      <p:sp>
        <p:nvSpPr>
          <p:cNvPr id="26" name="Google Shape;26;p6"/>
          <p:cNvSpPr txBox="1"/>
          <p:nvPr>
            <p:ph idx="2" type="subTitle"/>
          </p:nvPr>
        </p:nvSpPr>
        <p:spPr>
          <a:xfrm>
            <a:off x="3135425" y="2978831"/>
            <a:ext cx="5856300" cy="58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1500"/>
              <a:buNone/>
              <a:defRPr b="1" sz="1500">
                <a:solidFill>
                  <a:srgbClr val="013D85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b="1" sz="2300">
                <a:solidFill>
                  <a:srgbClr val="013D8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b="1" sz="2300">
                <a:solidFill>
                  <a:srgbClr val="013D8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b="1" sz="2300">
                <a:solidFill>
                  <a:srgbClr val="013D8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b="1" sz="2300">
                <a:solidFill>
                  <a:srgbClr val="013D8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b="1" sz="2300">
                <a:solidFill>
                  <a:srgbClr val="013D8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b="1" sz="2300">
                <a:solidFill>
                  <a:srgbClr val="013D8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b="1" sz="2300">
                <a:solidFill>
                  <a:srgbClr val="013D8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b="1" sz="2300">
                <a:solidFill>
                  <a:srgbClr val="013D85"/>
                </a:solidFill>
              </a:defRPr>
            </a:lvl9pPr>
          </a:lstStyle>
          <a:p/>
        </p:txBody>
      </p:sp>
      <p:sp>
        <p:nvSpPr>
          <p:cNvPr id="27" name="Google Shape;27;p6"/>
          <p:cNvSpPr txBox="1"/>
          <p:nvPr>
            <p:ph idx="3" type="subTitle"/>
          </p:nvPr>
        </p:nvSpPr>
        <p:spPr>
          <a:xfrm>
            <a:off x="3135425" y="3278981"/>
            <a:ext cx="58563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b="0" sz="13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8" name="Google Shape;28;p6"/>
          <p:cNvSpPr txBox="1"/>
          <p:nvPr>
            <p:ph idx="4" type="subTitle"/>
          </p:nvPr>
        </p:nvSpPr>
        <p:spPr>
          <a:xfrm>
            <a:off x="3135425" y="3662550"/>
            <a:ext cx="5856300" cy="10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b="0" sz="13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397">
          <p15:clr>
            <a:srgbClr val="FA7B17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Разделительный слайд">
  <p:cSld name="MAIN_POIN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pic>
        <p:nvPicPr>
          <p:cNvPr id="31" name="Google Shape;31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7"/>
          <p:cNvSpPr txBox="1"/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О себе">
  <p:cSld name="CUSTOM_1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5" name="Google Shape;35;p8"/>
          <p:cNvSpPr txBox="1"/>
          <p:nvPr>
            <p:ph idx="1" type="subTitle"/>
          </p:nvPr>
        </p:nvSpPr>
        <p:spPr>
          <a:xfrm>
            <a:off x="3891775" y="1716281"/>
            <a:ext cx="4391700" cy="58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1600"/>
              <a:buNone/>
              <a:defRPr b="1" sz="1600">
                <a:solidFill>
                  <a:srgbClr val="013D85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b="1" sz="2300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b="1" sz="2300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b="1" sz="2300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b="1" sz="2300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b="1" sz="2300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b="1" sz="2300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b="1" sz="2300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b="1" sz="23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6" name="Google Shape;36;p8"/>
          <p:cNvSpPr txBox="1"/>
          <p:nvPr>
            <p:ph idx="2" type="subTitle"/>
          </p:nvPr>
        </p:nvSpPr>
        <p:spPr>
          <a:xfrm>
            <a:off x="3891775" y="2252801"/>
            <a:ext cx="5095200" cy="25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b="0" sz="13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Раздел+описание">
  <p:cSld name="SECTION_TITLE_AND_DESCRIPTION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9"/>
          <p:cNvSpPr txBox="1"/>
          <p:nvPr>
            <p:ph type="title"/>
          </p:nvPr>
        </p:nvSpPr>
        <p:spPr>
          <a:xfrm>
            <a:off x="609075" y="12208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0" name="Google Shape;40;p9"/>
          <p:cNvSpPr txBox="1"/>
          <p:nvPr>
            <p:ph idx="1" type="subTitle"/>
          </p:nvPr>
        </p:nvSpPr>
        <p:spPr>
          <a:xfrm>
            <a:off x="609075" y="2916213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/>
        </p:txBody>
      </p:sp>
      <p:sp>
        <p:nvSpPr>
          <p:cNvPr id="41" name="Google Shape;41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11150" lvl="3" marL="18288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indent="-311150" lvl="4" marL="228600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5pPr>
            <a:lvl6pPr indent="-311150" lvl="5" marL="27432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6pPr>
            <a:lvl7pPr indent="-311150" lvl="6" marL="32004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7pPr>
            <a:lvl8pPr indent="-311150" lvl="7" marL="365760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8pPr>
            <a:lvl9pPr indent="-311150" lvl="8" marL="41148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9pPr>
          </a:lstStyle>
          <a:p/>
        </p:txBody>
      </p:sp>
      <p:sp>
        <p:nvSpPr>
          <p:cNvPr id="42" name="Google Shape;42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">
  <p:cSld name="CUSTOM_3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лайд с кодом 1">
  <p:cSld name="CUSTOM_2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9" name="Google Shape;49;p12"/>
          <p:cNvSpPr/>
          <p:nvPr/>
        </p:nvSpPr>
        <p:spPr>
          <a:xfrm>
            <a:off x="590475" y="1364975"/>
            <a:ext cx="7988400" cy="34125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12"/>
          <p:cNvSpPr txBox="1"/>
          <p:nvPr>
            <p:ph idx="1" type="subTitle"/>
          </p:nvPr>
        </p:nvSpPr>
        <p:spPr>
          <a:xfrm>
            <a:off x="754725" y="1516446"/>
            <a:ext cx="8226300" cy="345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Courier New"/>
              <a:buNone/>
              <a:defRPr sz="11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лайд с кодом 2">
  <p:cSld name="CUSTOM_2_1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3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3" name="Google Shape;53;p13"/>
          <p:cNvSpPr/>
          <p:nvPr/>
        </p:nvSpPr>
        <p:spPr>
          <a:xfrm>
            <a:off x="590475" y="1364975"/>
            <a:ext cx="7988400" cy="3412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3"/>
          <p:cNvSpPr txBox="1"/>
          <p:nvPr>
            <p:ph idx="1" type="subTitle"/>
          </p:nvPr>
        </p:nvSpPr>
        <p:spPr>
          <a:xfrm>
            <a:off x="754725" y="1516446"/>
            <a:ext cx="8226300" cy="345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ourier New"/>
              <a:buNone/>
              <a:defRPr sz="11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лайд КОД+ТЕКСТ 1">
  <p:cSld name="CUSTOM_4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4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" name="Google Shape;57;p14"/>
          <p:cNvSpPr txBox="1"/>
          <p:nvPr>
            <p:ph idx="1" type="subTitle"/>
          </p:nvPr>
        </p:nvSpPr>
        <p:spPr>
          <a:xfrm>
            <a:off x="544050" y="1350425"/>
            <a:ext cx="5316300" cy="90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b="0" sz="13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8" name="Google Shape;58;p14"/>
          <p:cNvSpPr/>
          <p:nvPr/>
        </p:nvSpPr>
        <p:spPr>
          <a:xfrm>
            <a:off x="606200" y="2144231"/>
            <a:ext cx="7938600" cy="24645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14"/>
          <p:cNvSpPr txBox="1"/>
          <p:nvPr>
            <p:ph idx="2" type="subTitle"/>
          </p:nvPr>
        </p:nvSpPr>
        <p:spPr>
          <a:xfrm>
            <a:off x="795050" y="2220038"/>
            <a:ext cx="7568100" cy="236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None/>
              <a:defRPr sz="13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лайд КОД+ТЕКСТ 2">
  <p:cSld name="CUSTOM_4_1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2" name="Google Shape;62;p15"/>
          <p:cNvSpPr/>
          <p:nvPr/>
        </p:nvSpPr>
        <p:spPr>
          <a:xfrm>
            <a:off x="362300" y="1384249"/>
            <a:ext cx="4748700" cy="33933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5"/>
          <p:cNvSpPr txBox="1"/>
          <p:nvPr>
            <p:ph idx="1" type="subTitle"/>
          </p:nvPr>
        </p:nvSpPr>
        <p:spPr>
          <a:xfrm>
            <a:off x="500550" y="1474819"/>
            <a:ext cx="4428600" cy="345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None/>
              <a:defRPr sz="13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2" type="subTitle"/>
          </p:nvPr>
        </p:nvSpPr>
        <p:spPr>
          <a:xfrm>
            <a:off x="5555275" y="1474819"/>
            <a:ext cx="3151200" cy="326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b="0" sz="13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блок текст + картинка" type="title">
  <p:cSld name="TITLE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7"/>
          <p:cNvSpPr txBox="1"/>
          <p:nvPr>
            <p:ph type="title"/>
          </p:nvPr>
        </p:nvSpPr>
        <p:spPr>
          <a:xfrm>
            <a:off x="495300" y="1493850"/>
            <a:ext cx="4424100" cy="215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pic>
        <p:nvPicPr>
          <p:cNvPr id="71" name="Google Shape;71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283625" y="843000"/>
            <a:ext cx="3457500" cy="3457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1247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Цитата, фон градиент" type="secHead">
  <p:cSld name="SECTION_HEADER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8"/>
          <p:cNvSpPr txBox="1"/>
          <p:nvPr>
            <p:ph type="title"/>
          </p:nvPr>
        </p:nvSpPr>
        <p:spPr>
          <a:xfrm>
            <a:off x="604350" y="1999200"/>
            <a:ext cx="7935300" cy="114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74" name="Google Shape;74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этапы процесса">
  <p:cSld name="CUSTOM_5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9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77" name="Google Shape;77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922851" y="1821363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5400000" dist="28575">
              <a:srgbClr val="000000">
                <a:alpha val="41000"/>
              </a:srgbClr>
            </a:outerShdw>
          </a:effectLst>
        </p:spPr>
      </p:pic>
      <p:pic>
        <p:nvPicPr>
          <p:cNvPr id="78" name="Google Shape;7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68289" y="1821362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5400000" dist="28575">
              <a:srgbClr val="000000">
                <a:alpha val="41000"/>
              </a:srgbClr>
            </a:outerShdw>
          </a:effectLst>
        </p:spPr>
      </p:pic>
      <p:pic>
        <p:nvPicPr>
          <p:cNvPr id="79" name="Google Shape;79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27615" y="1821362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5400000" dist="28575">
              <a:srgbClr val="000000">
                <a:alpha val="41000"/>
              </a:srgbClr>
            </a:outerShdw>
          </a:effectLst>
        </p:spPr>
      </p:pic>
      <p:pic>
        <p:nvPicPr>
          <p:cNvPr id="80" name="Google Shape;80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47001" y="1821362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5400000" dist="28575">
              <a:srgbClr val="000000">
                <a:alpha val="41000"/>
              </a:srgbClr>
            </a:outerShdw>
          </a:effectLst>
        </p:spPr>
      </p:pic>
      <p:sp>
        <p:nvSpPr>
          <p:cNvPr id="81" name="Google Shape;81;p19"/>
          <p:cNvSpPr txBox="1"/>
          <p:nvPr/>
        </p:nvSpPr>
        <p:spPr>
          <a:xfrm>
            <a:off x="1213006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rgbClr val="EEEEEE"/>
                </a:solidFill>
                <a:latin typeface="Roboto"/>
                <a:ea typeface="Roboto"/>
                <a:cs typeface="Roboto"/>
                <a:sym typeface="Roboto"/>
              </a:rPr>
              <a:t>Этап 1</a:t>
            </a:r>
            <a:endParaRPr b="1" sz="1500">
              <a:solidFill>
                <a:srgbClr val="EEEEE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2" name="Google Shape;82;p19"/>
          <p:cNvSpPr txBox="1"/>
          <p:nvPr/>
        </p:nvSpPr>
        <p:spPr>
          <a:xfrm>
            <a:off x="3058443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rgbClr val="EEEEEE"/>
                </a:solidFill>
                <a:latin typeface="Roboto"/>
                <a:ea typeface="Roboto"/>
                <a:cs typeface="Roboto"/>
                <a:sym typeface="Roboto"/>
              </a:rPr>
              <a:t>Этап 2</a:t>
            </a:r>
            <a:endParaRPr b="1" sz="1500">
              <a:solidFill>
                <a:srgbClr val="EEEEE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3" name="Google Shape;83;p19"/>
          <p:cNvSpPr txBox="1"/>
          <p:nvPr/>
        </p:nvSpPr>
        <p:spPr>
          <a:xfrm>
            <a:off x="4817770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rgbClr val="EEEEEE"/>
                </a:solidFill>
                <a:latin typeface="Roboto"/>
                <a:ea typeface="Roboto"/>
                <a:cs typeface="Roboto"/>
                <a:sym typeface="Roboto"/>
              </a:rPr>
              <a:t>Этап 3</a:t>
            </a:r>
            <a:endParaRPr b="1" sz="1500">
              <a:solidFill>
                <a:srgbClr val="EEEEE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4" name="Google Shape;84;p19"/>
          <p:cNvSpPr txBox="1"/>
          <p:nvPr/>
        </p:nvSpPr>
        <p:spPr>
          <a:xfrm>
            <a:off x="6637156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rgbClr val="EEEEEE"/>
                </a:solidFill>
                <a:latin typeface="Roboto"/>
                <a:ea typeface="Roboto"/>
                <a:cs typeface="Roboto"/>
                <a:sym typeface="Roboto"/>
              </a:rPr>
              <a:t>Этап 4</a:t>
            </a:r>
            <a:endParaRPr b="1" sz="1500">
              <a:solidFill>
                <a:srgbClr val="EEEEE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5" name="Google Shape;85;p19"/>
          <p:cNvSpPr txBox="1"/>
          <p:nvPr/>
        </p:nvSpPr>
        <p:spPr>
          <a:xfrm>
            <a:off x="982906" y="3241600"/>
            <a:ext cx="1523100" cy="10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i="0" lang="ru" sz="9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Описание данных в виде набора сущностей, отношений между ними, атрибутов сущностей, </a:t>
            </a:r>
            <a:r>
              <a:rPr lang="ru" sz="9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i="0" lang="ru" sz="9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их типов данных, соглашений </a:t>
            </a:r>
            <a:endParaRPr i="0" sz="9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i="0" lang="ru" sz="9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об именовании и правил проверки целостностей </a:t>
            </a:r>
            <a:endParaRPr sz="9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6" name="Google Shape;86;p19"/>
          <p:cNvSpPr txBox="1"/>
          <p:nvPr/>
        </p:nvSpPr>
        <p:spPr>
          <a:xfrm>
            <a:off x="2828343" y="3241600"/>
            <a:ext cx="1523100" cy="10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i="0" lang="ru" sz="9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Описание данных в виде набора сущностей, отношений между ними, атрибутов сущностей, </a:t>
            </a:r>
            <a:r>
              <a:rPr lang="ru" sz="9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i="0" lang="ru" sz="9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их типов данных, соглашений </a:t>
            </a:r>
            <a:endParaRPr i="0" sz="9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i="0" lang="ru" sz="9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об именовании и правил проверки целостностей </a:t>
            </a:r>
            <a:endParaRPr sz="9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7" name="Google Shape;87;p19"/>
          <p:cNvSpPr txBox="1"/>
          <p:nvPr/>
        </p:nvSpPr>
        <p:spPr>
          <a:xfrm>
            <a:off x="4587670" y="3241600"/>
            <a:ext cx="1523100" cy="10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i="0" lang="ru" sz="9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Описание данных в виде набора сущностей, отношений между ними, атрибутов сущностей, </a:t>
            </a:r>
            <a:r>
              <a:rPr lang="ru" sz="9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i="0" lang="ru" sz="9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их типов данных, соглашений </a:t>
            </a:r>
            <a:endParaRPr i="0" sz="9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i="0" lang="ru" sz="9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об именовании и правил проверки целостностей </a:t>
            </a:r>
            <a:endParaRPr sz="9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8" name="Google Shape;88;p19"/>
          <p:cNvSpPr txBox="1"/>
          <p:nvPr/>
        </p:nvSpPr>
        <p:spPr>
          <a:xfrm>
            <a:off x="6407056" y="3241600"/>
            <a:ext cx="1523100" cy="10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i="0" lang="ru" sz="9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Описание данных в виде набора сущностей, отношений между ними, атрибутов сущностей, </a:t>
            </a:r>
            <a:r>
              <a:rPr lang="ru" sz="9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i="0" lang="ru" sz="9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их типов данных, соглашений </a:t>
            </a:r>
            <a:endParaRPr i="0" sz="9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i="0" lang="ru" sz="9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об именовании и правил проверки целостностей </a:t>
            </a:r>
            <a:endParaRPr sz="9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писок в 2 колонки ">
  <p:cSld name="CUSTOM_8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0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aphicFrame>
        <p:nvGraphicFramePr>
          <p:cNvPr id="91" name="Google Shape;91;p20"/>
          <p:cNvGraphicFramePr/>
          <p:nvPr/>
        </p:nvGraphicFramePr>
        <p:xfrm>
          <a:off x="655650" y="1745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{78346B4A-800E-4B99-96E5-E192E3A25116}</a:tableStyleId>
              </a:tblPr>
              <a:tblGrid>
                <a:gridCol w="3800400"/>
                <a:gridCol w="4410000"/>
              </a:tblGrid>
              <a:tr h="479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b="1" lang="ru" sz="1700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 Описание эксперимента</a:t>
                      </a:r>
                      <a:r>
                        <a:rPr b="1" lang="ru" sz="17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b="1" lang="ru" sz="1700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 Технические детали</a:t>
                      </a:r>
                      <a:endParaRPr b="1" sz="170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16175">
                <a:tc>
                  <a:txBody>
                    <a:bodyPr/>
                    <a:lstStyle/>
                    <a:p>
                      <a:pPr indent="-32385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Roboto"/>
                        <a:buChar char="●"/>
                      </a:pPr>
                      <a:r>
                        <a:rPr lang="ru"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  Гипотеза</a:t>
                      </a:r>
                      <a:endParaRPr sz="15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-32385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Roboto"/>
                        <a:buChar char="●"/>
                      </a:pPr>
                      <a:r>
                        <a:rPr lang="ru"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  Целевая аудитория</a:t>
                      </a:r>
                      <a:endParaRPr sz="15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-32385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Roboto"/>
                        <a:buChar char="●"/>
                      </a:pPr>
                      <a:r>
                        <a:rPr lang="ru"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  Ожидаемый результат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175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Roboto"/>
                        <a:buChar char="●"/>
                      </a:pPr>
                      <a:r>
                        <a:rPr lang="ru" sz="17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ru"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Реализация</a:t>
                      </a:r>
                      <a:endParaRPr sz="15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-32385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Roboto"/>
                        <a:buChar char="●"/>
                      </a:pPr>
                      <a:r>
                        <a:rPr lang="ru"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Настройки</a:t>
                      </a:r>
                      <a:endParaRPr sz="15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-32385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Roboto"/>
                        <a:buChar char="●"/>
                      </a:pPr>
                      <a:r>
                        <a:rPr lang="ru"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Метрики</a:t>
                      </a:r>
                      <a:endParaRPr sz="15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сылка на источник" type="twoColTx">
  <p:cSld name="TITLE_AND_TWO_COLUMNS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1"/>
          <p:cNvSpPr txBox="1"/>
          <p:nvPr/>
        </p:nvSpPr>
        <p:spPr>
          <a:xfrm>
            <a:off x="556300" y="4554000"/>
            <a:ext cx="4239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добавьте ссылку на источник</a:t>
            </a:r>
            <a:endParaRPr sz="1100">
              <a:solidFill>
                <a:srgbClr val="013D8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397">
          <p15:clr>
            <a:srgbClr val="FA7B17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лайд с подтемой">
  <p:cSld name="MAIN_POINT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2"/>
          <p:cNvSpPr txBox="1"/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1pPr>
            <a:lvl2pPr lvl="1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аблица ">
  <p:cSld name="CUSTOM_1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3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aphicFrame>
        <p:nvGraphicFramePr>
          <p:cNvPr id="98" name="Google Shape;98;p23"/>
          <p:cNvGraphicFramePr/>
          <p:nvPr/>
        </p:nvGraphicFramePr>
        <p:xfrm>
          <a:off x="608700" y="1593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{78346B4A-800E-4B99-96E5-E192E3A25116}</a:tableStyleId>
              </a:tblPr>
              <a:tblGrid>
                <a:gridCol w="395875"/>
                <a:gridCol w="2403400"/>
                <a:gridCol w="2684725"/>
                <a:gridCol w="2477150"/>
              </a:tblGrid>
              <a:tr h="706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600">
                        <a:solidFill>
                          <a:srgbClr val="4811C5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600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Название столбца</a:t>
                      </a:r>
                      <a:endParaRPr b="1" sz="160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ru" sz="1600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Название столбца</a:t>
                      </a:r>
                      <a:endParaRPr b="1" sz="160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ru" sz="1600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Название столбца</a:t>
                      </a:r>
                      <a:endParaRPr b="1" sz="160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20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Текст нежирным шрифтом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Текст нежирным шрифтом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13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Текст нежирным шрифтом</a:t>
                      </a:r>
                      <a:endParaRPr sz="13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0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0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0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4.</a:t>
                      </a:r>
                      <a:endParaRPr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0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5.</a:t>
                      </a:r>
                      <a:endParaRPr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плашки + иллюстрация">
  <p:cSld name="SECTION_TITLE_AND_DESCRIPTION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101" name="Google Shape;101;p24"/>
          <p:cNvSpPr/>
          <p:nvPr/>
        </p:nvSpPr>
        <p:spPr>
          <a:xfrm>
            <a:off x="791625" y="1039150"/>
            <a:ext cx="3640800" cy="7059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2" name="Google Shape;102;p24"/>
          <p:cNvSpPr/>
          <p:nvPr/>
        </p:nvSpPr>
        <p:spPr>
          <a:xfrm>
            <a:off x="791625" y="1904882"/>
            <a:ext cx="3640800" cy="7059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3" name="Google Shape;103;p24"/>
          <p:cNvSpPr/>
          <p:nvPr/>
        </p:nvSpPr>
        <p:spPr>
          <a:xfrm>
            <a:off x="791625" y="2770607"/>
            <a:ext cx="3640800" cy="7059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" name="Google Shape;104;p24"/>
          <p:cNvSpPr/>
          <p:nvPr/>
        </p:nvSpPr>
        <p:spPr>
          <a:xfrm>
            <a:off x="791625" y="3636339"/>
            <a:ext cx="3640800" cy="7059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05" name="Google Shape;105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533900" y="1409075"/>
            <a:ext cx="2468700" cy="24687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">
  <p:cSld name="CUSTOM_3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5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блока">
  <p:cSld name="CUSTOM_7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6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0" name="Google Shape;110;p26"/>
          <p:cNvSpPr/>
          <p:nvPr/>
        </p:nvSpPr>
        <p:spPr>
          <a:xfrm>
            <a:off x="932713" y="1748200"/>
            <a:ext cx="2127900" cy="2929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1" name="Google Shape;111;p26"/>
          <p:cNvSpPr/>
          <p:nvPr/>
        </p:nvSpPr>
        <p:spPr>
          <a:xfrm>
            <a:off x="3436420" y="1748200"/>
            <a:ext cx="2127900" cy="2929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2" name="Google Shape;112;p26"/>
          <p:cNvSpPr/>
          <p:nvPr/>
        </p:nvSpPr>
        <p:spPr>
          <a:xfrm>
            <a:off x="5940127" y="1748200"/>
            <a:ext cx="2127900" cy="2929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3" name="Google Shape;113;p26"/>
          <p:cNvSpPr txBox="1"/>
          <p:nvPr/>
        </p:nvSpPr>
        <p:spPr>
          <a:xfrm>
            <a:off x="1073575" y="2074863"/>
            <a:ext cx="18462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Поле для текста</a:t>
            </a:r>
            <a:endParaRPr sz="1100"/>
          </a:p>
        </p:txBody>
      </p:sp>
      <p:sp>
        <p:nvSpPr>
          <p:cNvPr id="114" name="Google Shape;114;p26"/>
          <p:cNvSpPr txBox="1"/>
          <p:nvPr/>
        </p:nvSpPr>
        <p:spPr>
          <a:xfrm>
            <a:off x="3530920" y="2074863"/>
            <a:ext cx="1938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Поле для текста</a:t>
            </a:r>
            <a:endParaRPr/>
          </a:p>
        </p:txBody>
      </p:sp>
      <p:sp>
        <p:nvSpPr>
          <p:cNvPr id="115" name="Google Shape;115;p26"/>
          <p:cNvSpPr txBox="1"/>
          <p:nvPr/>
        </p:nvSpPr>
        <p:spPr>
          <a:xfrm>
            <a:off x="6080975" y="2074863"/>
            <a:ext cx="1938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Поле для текста</a:t>
            </a:r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Важный тезис крупным шрифтом " type="secHead">
  <p:cSld name="SECTION_HEADER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8"/>
          <p:cNvSpPr txBox="1"/>
          <p:nvPr>
            <p:ph type="title"/>
          </p:nvPr>
        </p:nvSpPr>
        <p:spPr>
          <a:xfrm>
            <a:off x="500550" y="1940306"/>
            <a:ext cx="79353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22" name="Google Shape;122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">
  <p:cSld name="CUSTOM_3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0"/>
          <p:cNvSpPr txBox="1"/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лайд с кодом 1">
  <p:cSld name="CUSTOM_2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1"/>
          <p:cNvSpPr txBox="1"/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9" name="Google Shape;129;p31"/>
          <p:cNvSpPr/>
          <p:nvPr/>
        </p:nvSpPr>
        <p:spPr>
          <a:xfrm>
            <a:off x="606200" y="1441163"/>
            <a:ext cx="7938600" cy="35649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31"/>
          <p:cNvSpPr txBox="1"/>
          <p:nvPr>
            <p:ph idx="1" type="subTitle"/>
          </p:nvPr>
        </p:nvSpPr>
        <p:spPr>
          <a:xfrm>
            <a:off x="743675" y="1496071"/>
            <a:ext cx="8226300" cy="345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Courier New"/>
              <a:buNone/>
              <a:defRPr sz="1100">
                <a:latin typeface="Courier New"/>
                <a:ea typeface="Courier New"/>
                <a:cs typeface="Courier New"/>
                <a:sym typeface="Courier New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лайд с подтемой">
  <p:cSld name="MAIN_POINT_3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32"/>
          <p:cNvSpPr txBox="1"/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1pPr>
            <a:lvl2pPr lvl="1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лайд с кодом 2 1">
  <p:cSld name="CUSTOM_2_1_1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33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5" name="Google Shape;135;p33"/>
          <p:cNvSpPr/>
          <p:nvPr/>
        </p:nvSpPr>
        <p:spPr>
          <a:xfrm>
            <a:off x="590475" y="1364975"/>
            <a:ext cx="7988400" cy="3412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33"/>
          <p:cNvSpPr txBox="1"/>
          <p:nvPr>
            <p:ph idx="1" type="subTitle"/>
          </p:nvPr>
        </p:nvSpPr>
        <p:spPr>
          <a:xfrm>
            <a:off x="754725" y="1516446"/>
            <a:ext cx="8226300" cy="345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ourier New"/>
              <a:buNone/>
              <a:defRPr sz="11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лайд КОД+ТЕКСТ 1 1">
  <p:cSld name="CUSTOM_4_2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34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9" name="Google Shape;139;p34"/>
          <p:cNvSpPr txBox="1"/>
          <p:nvPr>
            <p:ph idx="1" type="subTitle"/>
          </p:nvPr>
        </p:nvSpPr>
        <p:spPr>
          <a:xfrm>
            <a:off x="544050" y="1350425"/>
            <a:ext cx="5316300" cy="90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b="0" sz="1300"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0" name="Google Shape;140;p34"/>
          <p:cNvSpPr/>
          <p:nvPr/>
        </p:nvSpPr>
        <p:spPr>
          <a:xfrm>
            <a:off x="606200" y="2144231"/>
            <a:ext cx="7938600" cy="24645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34"/>
          <p:cNvSpPr txBox="1"/>
          <p:nvPr>
            <p:ph idx="2" type="subTitle"/>
          </p:nvPr>
        </p:nvSpPr>
        <p:spPr>
          <a:xfrm>
            <a:off x="795050" y="2220038"/>
            <a:ext cx="7568100" cy="236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None/>
              <a:defRPr sz="1300">
                <a:latin typeface="Courier New"/>
                <a:ea typeface="Courier New"/>
                <a:cs typeface="Courier New"/>
                <a:sym typeface="Courier New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20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6" Type="http://schemas.openxmlformats.org/officeDocument/2006/relationships/theme" Target="../theme/theme1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4.xml"/><Relationship Id="rId10" Type="http://schemas.openxmlformats.org/officeDocument/2006/relationships/slideLayout" Target="../slideLayouts/slideLayout23.xml"/><Relationship Id="rId12" Type="http://schemas.openxmlformats.org/officeDocument/2006/relationships/theme" Target="../theme/theme4.xml"/><Relationship Id="rId1" Type="http://schemas.openxmlformats.org/officeDocument/2006/relationships/image" Target="../media/image20.png"/><Relationship Id="rId2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0.xml"/><Relationship Id="rId8" Type="http://schemas.openxmlformats.org/officeDocument/2006/relationships/slideLayout" Target="../slideLayouts/slideLayout21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9" Type="http://schemas.openxmlformats.org/officeDocument/2006/relationships/theme" Target="../theme/theme2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Roboto"/>
              <a:buNone/>
              <a:defRPr b="1" sz="3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24350" y="15788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36550" lvl="0" marL="4572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23850" lvl="1" marL="9144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1150" lvl="2" marL="1371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1150" lvl="3" marL="18288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1150" lvl="4" marL="22860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1150" lvl="5" marL="27432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1150" lvl="6" marL="32004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1150" lvl="7" marL="3657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1150" lvl="8" marL="41148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6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b="1"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67" name="Google Shape;67;p16"/>
          <p:cNvSpPr txBox="1"/>
          <p:nvPr>
            <p:ph idx="1" type="body"/>
          </p:nvPr>
        </p:nvSpPr>
        <p:spPr>
          <a:xfrm>
            <a:off x="424350" y="15788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36550" lvl="0" marL="4572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23850" lvl="1" marL="9144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1150" lvl="2" marL="1371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■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1150" lvl="3" marL="18288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●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1150" lvl="4" marL="22860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○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1150" lvl="5" marL="27432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■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1150" lvl="6" marL="32004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●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1150" lvl="7" marL="3657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○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1150" lvl="8" marL="41148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■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68" name="Google Shape;6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7"/>
          <p:cNvSpPr txBox="1"/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Roboto"/>
              <a:buNone/>
              <a:defRPr b="1" sz="3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18" name="Google Shape;118;p27"/>
          <p:cNvSpPr txBox="1"/>
          <p:nvPr>
            <p:ph idx="1" type="body"/>
          </p:nvPr>
        </p:nvSpPr>
        <p:spPr>
          <a:xfrm>
            <a:off x="424350" y="15788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36550" lvl="0" marL="4572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23850" lvl="1" marL="9144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1150" lvl="2" marL="1371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1150" lvl="3" marL="18288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1150" lvl="4" marL="22860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1150" lvl="5" marL="27432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1150" lvl="6" marL="32004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1150" lvl="7" marL="3657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1150" lvl="8" marL="41148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19" name="Google Shape;119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  <p:sldLayoutId id="2147483678" r:id="rId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Relationship Id="rId4" Type="http://schemas.openxmlformats.org/officeDocument/2006/relationships/image" Target="../media/image17.png"/><Relationship Id="rId5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Relationship Id="rId4" Type="http://schemas.openxmlformats.org/officeDocument/2006/relationships/image" Target="../media/image5.png"/><Relationship Id="rId5" Type="http://schemas.openxmlformats.org/officeDocument/2006/relationships/image" Target="../media/image7.png"/><Relationship Id="rId6" Type="http://schemas.openxmlformats.org/officeDocument/2006/relationships/image" Target="../media/image15.png"/><Relationship Id="rId7" Type="http://schemas.openxmlformats.org/officeDocument/2006/relationships/image" Target="../media/image1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png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35"/>
          <p:cNvPicPr preferRelativeResize="0"/>
          <p:nvPr/>
        </p:nvPicPr>
        <p:blipFill rotWithShape="1">
          <a:blip r:embed="rId3">
            <a:alphaModFix/>
          </a:blip>
          <a:srcRect b="0" l="18598" r="18591" t="0"/>
          <a:stretch/>
        </p:blipFill>
        <p:spPr>
          <a:xfrm>
            <a:off x="-50525" y="-3276300"/>
            <a:ext cx="9408753" cy="8360474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35"/>
          <p:cNvSpPr txBox="1"/>
          <p:nvPr/>
        </p:nvSpPr>
        <p:spPr>
          <a:xfrm>
            <a:off x="450075" y="1416888"/>
            <a:ext cx="75843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Проектирование сетевой фабрики на основе </a:t>
            </a:r>
            <a:endParaRPr b="1" sz="4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VxLAN EVPN</a:t>
            </a:r>
            <a:endParaRPr b="1" sz="45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48" name="Google Shape;148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13700" y="268875"/>
            <a:ext cx="822175" cy="284625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35"/>
          <p:cNvSpPr/>
          <p:nvPr/>
        </p:nvSpPr>
        <p:spPr>
          <a:xfrm>
            <a:off x="629700" y="4138025"/>
            <a:ext cx="2920500" cy="426600"/>
          </a:xfrm>
          <a:prstGeom prst="roundRect">
            <a:avLst>
              <a:gd fmla="val 16667" name="adj"/>
            </a:avLst>
          </a:prstGeom>
          <a:solidFill>
            <a:srgbClr val="3F29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0" name="Google Shape;150;p35"/>
          <p:cNvSpPr txBox="1"/>
          <p:nvPr/>
        </p:nvSpPr>
        <p:spPr>
          <a:xfrm>
            <a:off x="656100" y="4127375"/>
            <a:ext cx="2867700" cy="44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900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rPr>
              <a:t>GA-Дизайн сетей ЦОД</a:t>
            </a:r>
            <a:endParaRPr sz="100"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151" name="Google Shape;151;p35"/>
          <p:cNvSpPr/>
          <p:nvPr/>
        </p:nvSpPr>
        <p:spPr>
          <a:xfrm>
            <a:off x="3756350" y="4138025"/>
            <a:ext cx="1548600" cy="426600"/>
          </a:xfrm>
          <a:prstGeom prst="roundRect">
            <a:avLst>
              <a:gd fmla="val 16667" name="adj"/>
            </a:avLst>
          </a:prstGeom>
          <a:solidFill>
            <a:srgbClr val="3F29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2" name="Google Shape;152;p35"/>
          <p:cNvSpPr txBox="1"/>
          <p:nvPr/>
        </p:nvSpPr>
        <p:spPr>
          <a:xfrm>
            <a:off x="3756350" y="4127375"/>
            <a:ext cx="1548600" cy="44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900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rPr>
              <a:t>2025-2026</a:t>
            </a:r>
            <a:endParaRPr sz="100"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pic>
        <p:nvPicPr>
          <p:cNvPr id="153" name="Google Shape;153;p3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88679" y="2289998"/>
            <a:ext cx="2512025" cy="251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36"/>
          <p:cNvSpPr txBox="1"/>
          <p:nvPr>
            <p:ph type="title"/>
          </p:nvPr>
        </p:nvSpPr>
        <p:spPr>
          <a:xfrm>
            <a:off x="744125" y="1415974"/>
            <a:ext cx="7935300" cy="1416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4000">
                <a:solidFill>
                  <a:schemeClr val="dk1"/>
                </a:solidFill>
              </a:rPr>
              <a:t>Меня хорошо видно</a:t>
            </a:r>
            <a:endParaRPr sz="4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4000">
                <a:solidFill>
                  <a:schemeClr val="dk1"/>
                </a:solidFill>
              </a:rPr>
              <a:t>&amp; слышно?</a:t>
            </a:r>
            <a:endParaRPr sz="4000">
              <a:solidFill>
                <a:schemeClr val="dk1"/>
              </a:solidFill>
            </a:endParaRPr>
          </a:p>
        </p:txBody>
      </p:sp>
      <p:pic>
        <p:nvPicPr>
          <p:cNvPr id="159" name="Google Shape;159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44062" y="3841075"/>
            <a:ext cx="545712" cy="5457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5575" y="3890890"/>
            <a:ext cx="537262" cy="5372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7"/>
          <p:cNvSpPr txBox="1"/>
          <p:nvPr>
            <p:ph type="title"/>
          </p:nvPr>
        </p:nvSpPr>
        <p:spPr>
          <a:xfrm>
            <a:off x="500550" y="313624"/>
            <a:ext cx="8520600" cy="184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3000"/>
              <a:t>Защита проекта</a:t>
            </a:r>
            <a:endParaRPr sz="3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ru" sz="3000"/>
              <a:t>Тема: Проектирование сетевой фабрики на основе VxLAN EVPN</a:t>
            </a:r>
            <a:endParaRPr b="0" sz="3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6" name="Google Shape;166;p37"/>
          <p:cNvPicPr preferRelativeResize="0"/>
          <p:nvPr/>
        </p:nvPicPr>
        <p:blipFill rotWithShape="1">
          <a:blip r:embed="rId3">
            <a:alphaModFix/>
          </a:blip>
          <a:srcRect b="13765" l="0" r="0" t="30931"/>
          <a:stretch/>
        </p:blipFill>
        <p:spPr>
          <a:xfrm>
            <a:off x="630000" y="2102676"/>
            <a:ext cx="2349900" cy="23187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167" name="Google Shape;167;p37"/>
          <p:cNvSpPr txBox="1"/>
          <p:nvPr/>
        </p:nvSpPr>
        <p:spPr>
          <a:xfrm>
            <a:off x="3899475" y="2336401"/>
            <a:ext cx="3701700" cy="37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30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Бодров Дмитрий</a:t>
            </a:r>
            <a:endParaRPr b="1" sz="2300">
              <a:solidFill>
                <a:srgbClr val="3F299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8" name="Google Shape;168;p37"/>
          <p:cNvSpPr txBox="1"/>
          <p:nvPr/>
        </p:nvSpPr>
        <p:spPr>
          <a:xfrm>
            <a:off x="3899475" y="2893375"/>
            <a:ext cx="3193200" cy="6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latin typeface="Roboto Medium"/>
                <a:ea typeface="Roboto Medium"/>
                <a:cs typeface="Roboto Medium"/>
                <a:sym typeface="Roboto Medium"/>
              </a:rPr>
              <a:t>АО “Гринатом”</a:t>
            </a:r>
            <a:endParaRPr sz="1300"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latin typeface="Roboto Medium"/>
                <a:ea typeface="Roboto Medium"/>
                <a:cs typeface="Roboto Medium"/>
                <a:sym typeface="Roboto Medium"/>
              </a:rPr>
              <a:t>Руководитель группы ИТ и ИБ</a:t>
            </a:r>
            <a:endParaRPr sz="1300">
              <a:latin typeface="Roboto Medium"/>
              <a:ea typeface="Roboto Medium"/>
              <a:cs typeface="Roboto Medium"/>
              <a:sym typeface="Roboto Medium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Google Shape;173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79775" y="1462600"/>
            <a:ext cx="1294150" cy="594822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5400000" dist="28575">
              <a:srgbClr val="000000">
                <a:alpha val="41000"/>
              </a:srgbClr>
            </a:outerShdw>
          </a:effectLst>
        </p:spPr>
      </p:pic>
      <p:pic>
        <p:nvPicPr>
          <p:cNvPr id="174" name="Google Shape;174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79775" y="2175797"/>
            <a:ext cx="1294150" cy="594822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5400000" dist="28575">
              <a:srgbClr val="000000">
                <a:alpha val="41000"/>
              </a:srgbClr>
            </a:outerShdw>
          </a:effectLst>
        </p:spPr>
      </p:pic>
      <p:pic>
        <p:nvPicPr>
          <p:cNvPr id="175" name="Google Shape;175;p3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79775" y="2852067"/>
            <a:ext cx="1294150" cy="594822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5400000" dist="28575">
              <a:srgbClr val="000000">
                <a:alpha val="41000"/>
              </a:srgbClr>
            </a:outerShdw>
          </a:effectLst>
        </p:spPr>
      </p:pic>
      <p:pic>
        <p:nvPicPr>
          <p:cNvPr id="176" name="Google Shape;176;p3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279775" y="3519916"/>
            <a:ext cx="1294150" cy="594822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5400000" dist="28575">
              <a:srgbClr val="000000">
                <a:alpha val="41000"/>
              </a:srgbClr>
            </a:outerShdw>
          </a:effectLst>
        </p:spPr>
      </p:pic>
      <p:pic>
        <p:nvPicPr>
          <p:cNvPr id="177" name="Google Shape;177;p3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279775" y="4187778"/>
            <a:ext cx="1294150" cy="594822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5400000" dist="28575">
              <a:srgbClr val="000000">
                <a:alpha val="41000"/>
              </a:srgbClr>
            </a:outerShdw>
          </a:effectLst>
        </p:spPr>
      </p:pic>
      <p:sp>
        <p:nvSpPr>
          <p:cNvPr id="178" name="Google Shape;178;p38"/>
          <p:cNvSpPr txBox="1"/>
          <p:nvPr>
            <p:ph type="title"/>
          </p:nvPr>
        </p:nvSpPr>
        <p:spPr>
          <a:xfrm>
            <a:off x="558050" y="456350"/>
            <a:ext cx="74931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План защиты</a:t>
            </a:r>
            <a:endParaRPr sz="3000"/>
          </a:p>
        </p:txBody>
      </p:sp>
      <p:sp>
        <p:nvSpPr>
          <p:cNvPr id="179" name="Google Shape;179;p38"/>
          <p:cNvSpPr txBox="1"/>
          <p:nvPr/>
        </p:nvSpPr>
        <p:spPr>
          <a:xfrm>
            <a:off x="1508200" y="1552261"/>
            <a:ext cx="837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1</a:t>
            </a:r>
            <a:endParaRPr b="1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0" name="Google Shape;180;p38"/>
          <p:cNvSpPr txBox="1"/>
          <p:nvPr/>
        </p:nvSpPr>
        <p:spPr>
          <a:xfrm>
            <a:off x="1508200" y="2265458"/>
            <a:ext cx="837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2</a:t>
            </a:r>
            <a:endParaRPr b="1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1" name="Google Shape;181;p38"/>
          <p:cNvSpPr txBox="1"/>
          <p:nvPr/>
        </p:nvSpPr>
        <p:spPr>
          <a:xfrm>
            <a:off x="1508200" y="2941728"/>
            <a:ext cx="837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3</a:t>
            </a:r>
            <a:endParaRPr b="1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2" name="Google Shape;182;p38"/>
          <p:cNvSpPr txBox="1"/>
          <p:nvPr/>
        </p:nvSpPr>
        <p:spPr>
          <a:xfrm>
            <a:off x="1508200" y="3609577"/>
            <a:ext cx="837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4</a:t>
            </a:r>
            <a:endParaRPr b="1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3" name="Google Shape;183;p38"/>
          <p:cNvSpPr txBox="1"/>
          <p:nvPr/>
        </p:nvSpPr>
        <p:spPr>
          <a:xfrm>
            <a:off x="1508200" y="4277439"/>
            <a:ext cx="837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5</a:t>
            </a:r>
            <a:endParaRPr b="1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184" name="Google Shape;184;p38"/>
          <p:cNvGraphicFramePr/>
          <p:nvPr/>
        </p:nvGraphicFramePr>
        <p:xfrm>
          <a:off x="2730075" y="14452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{78346B4A-800E-4B99-96E5-E192E3A25116}</a:tableStyleId>
              </a:tblPr>
              <a:tblGrid>
                <a:gridCol w="5494225"/>
              </a:tblGrid>
              <a:tr h="629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Цель и задачи проекта</a:t>
                      </a:r>
                      <a:endParaRPr sz="10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85" name="Google Shape;185;p38"/>
          <p:cNvGraphicFramePr/>
          <p:nvPr/>
        </p:nvGraphicFramePr>
        <p:xfrm>
          <a:off x="2730075" y="21584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{78346B4A-800E-4B99-96E5-E192E3A25116}</a:tableStyleId>
              </a:tblPr>
              <a:tblGrid>
                <a:gridCol w="5494225"/>
              </a:tblGrid>
              <a:tr h="629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Используемые технологии и оборудование</a:t>
                      </a:r>
                      <a:endParaRPr sz="10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86" name="Google Shape;186;p38"/>
          <p:cNvGraphicFramePr/>
          <p:nvPr/>
        </p:nvGraphicFramePr>
        <p:xfrm>
          <a:off x="2730075" y="2839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{78346B4A-800E-4B99-96E5-E192E3A25116}</a:tableStyleId>
              </a:tblPr>
              <a:tblGrid>
                <a:gridCol w="5494225"/>
              </a:tblGrid>
              <a:tr h="629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Что получилось</a:t>
                      </a:r>
                      <a:endParaRPr sz="10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87" name="Google Shape;187;p38"/>
          <p:cNvGraphicFramePr/>
          <p:nvPr/>
        </p:nvGraphicFramePr>
        <p:xfrm>
          <a:off x="2730075" y="35199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{78346B4A-800E-4B99-96E5-E192E3A25116}</a:tableStyleId>
              </a:tblPr>
              <a:tblGrid>
                <a:gridCol w="5494225"/>
              </a:tblGrid>
              <a:tr h="629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Выводы</a:t>
                      </a:r>
                      <a:endParaRPr sz="10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88" name="Google Shape;188;p38"/>
          <p:cNvGraphicFramePr/>
          <p:nvPr/>
        </p:nvGraphicFramePr>
        <p:xfrm>
          <a:off x="2730075" y="41627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{78346B4A-800E-4B99-96E5-E192E3A25116}</a:tableStyleId>
              </a:tblPr>
              <a:tblGrid>
                <a:gridCol w="5494225"/>
              </a:tblGrid>
              <a:tr h="629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Вопросы и рекомендации</a:t>
                      </a:r>
                      <a:endParaRPr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9"/>
          <p:cNvSpPr txBox="1"/>
          <p:nvPr/>
        </p:nvSpPr>
        <p:spPr>
          <a:xfrm>
            <a:off x="560500" y="324881"/>
            <a:ext cx="8520600" cy="13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3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Цел</a:t>
            </a:r>
            <a:r>
              <a:rPr b="1" lang="ru" sz="3000">
                <a:latin typeface="Roboto"/>
                <a:ea typeface="Roboto"/>
                <a:cs typeface="Roboto"/>
                <a:sym typeface="Roboto"/>
              </a:rPr>
              <a:t>ь и задачи</a:t>
            </a:r>
            <a:r>
              <a:rPr b="1" lang="ru" sz="3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проекта</a:t>
            </a:r>
            <a:endParaRPr b="1" sz="30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194" name="Google Shape;194;p39"/>
          <p:cNvGraphicFramePr/>
          <p:nvPr/>
        </p:nvGraphicFramePr>
        <p:xfrm>
          <a:off x="952500" y="2229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{78346B4A-800E-4B99-96E5-E192E3A25116}</a:tableStyleId>
              </a:tblPr>
              <a:tblGrid>
                <a:gridCol w="489425"/>
                <a:gridCol w="67495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60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60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60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b="1" sz="160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1500">
                          <a:solidFill>
                            <a:schemeClr val="dk1"/>
                          </a:solidFill>
                          <a:latin typeface="Roboto Medium"/>
                          <a:ea typeface="Roboto Medium"/>
                          <a:cs typeface="Roboto Medium"/>
                          <a:sym typeface="Roboto Medium"/>
                        </a:rPr>
                        <a:t>При выполнении работ учесть:</a:t>
                      </a:r>
                      <a:endParaRPr sz="1500">
                        <a:solidFill>
                          <a:schemeClr val="dk1"/>
                        </a:solidFill>
                        <a:latin typeface="Roboto Medium"/>
                        <a:ea typeface="Roboto Medium"/>
                        <a:cs typeface="Roboto Medium"/>
                        <a:sym typeface="Roboto Medium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Количество стоек в новом серверном помещении;</a:t>
                      </a:r>
                      <a:endParaRPr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60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b="1" sz="160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Существующие зоны безопасности;</a:t>
                      </a:r>
                      <a:endParaRPr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60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b="1" sz="160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60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60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4.</a:t>
                      </a:r>
                      <a:endParaRPr b="1" sz="160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Уже используемое сетевое оборудование;</a:t>
                      </a:r>
                      <a:endParaRPr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Заложить возможность тиражирования;</a:t>
                      </a:r>
                      <a:endParaRPr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60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198000">
                    <a:lnL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95" name="Google Shape;195;p39"/>
          <p:cNvSpPr/>
          <p:nvPr/>
        </p:nvSpPr>
        <p:spPr>
          <a:xfrm>
            <a:off x="986400" y="1030400"/>
            <a:ext cx="7239000" cy="935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162000" spcFirstLastPara="1" rIns="16200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Цель проекта: спроектировать сетевую фабрику для нового серверного помещения ЦОД, с учетом особенностей существующей сетевой инфраструктуры. </a:t>
            </a:r>
            <a:endParaRPr sz="1500">
              <a:latin typeface="Roboto Medium"/>
              <a:ea typeface="Roboto Medium"/>
              <a:cs typeface="Roboto Medium"/>
              <a:sym typeface="Roboto Medium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40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/>
              <a:t>Используемые технологии</a:t>
            </a:r>
            <a:endParaRPr sz="3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/>
          </a:p>
        </p:txBody>
      </p:sp>
      <p:graphicFrame>
        <p:nvGraphicFramePr>
          <p:cNvPr id="201" name="Google Shape;201;p40"/>
          <p:cNvGraphicFramePr/>
          <p:nvPr/>
        </p:nvGraphicFramePr>
        <p:xfrm>
          <a:off x="893201" y="13385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{78346B4A-800E-4B99-96E5-E192E3A25116}</a:tableStyleId>
              </a:tblPr>
              <a:tblGrid>
                <a:gridCol w="489425"/>
                <a:gridCol w="67495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60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b="1" sz="160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Underlay (OSPF, BGP);</a:t>
                      </a:r>
                      <a:endParaRPr sz="1600">
                        <a:solidFill>
                          <a:srgbClr val="0F1115"/>
                        </a:solidFill>
                        <a:highlight>
                          <a:srgbClr val="FFFFFF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60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b="1" sz="160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VxLAN (L2 VNI, L3 VNI);</a:t>
                      </a:r>
                      <a:endParaRPr sz="1600">
                        <a:solidFill>
                          <a:srgbClr val="0F1115"/>
                        </a:solidFill>
                        <a:highlight>
                          <a:srgbClr val="FFFFFF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60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b="1" sz="160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Multihoming (</a:t>
                      </a:r>
                      <a:r>
                        <a:rPr lang="ru" sz="1600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VxLAN </a:t>
                      </a:r>
                      <a:r>
                        <a:rPr lang="ru" sz="1600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ESI-LAG);</a:t>
                      </a:r>
                      <a:endParaRPr sz="16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60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4.</a:t>
                      </a:r>
                      <a:endParaRPr b="1" sz="160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60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60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5.</a:t>
                      </a:r>
                      <a:endParaRPr b="1" sz="160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60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60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6.</a:t>
                      </a:r>
                      <a:endParaRPr b="1" sz="160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BFD;</a:t>
                      </a:r>
                      <a:endParaRPr sz="1600">
                        <a:solidFill>
                          <a:srgbClr val="0F1115"/>
                        </a:solidFill>
                        <a:highlight>
                          <a:srgbClr val="FFFFFF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solidFill>
                          <a:srgbClr val="0F1115"/>
                        </a:solidFill>
                        <a:highlight>
                          <a:srgbClr val="FFFFFF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VRF;</a:t>
                      </a:r>
                      <a:endParaRPr sz="1600">
                        <a:solidFill>
                          <a:srgbClr val="0F1115"/>
                        </a:solidFill>
                        <a:highlight>
                          <a:srgbClr val="FFFFFF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solidFill>
                          <a:srgbClr val="0F1115"/>
                        </a:solidFill>
                        <a:highlight>
                          <a:srgbClr val="FFFFFF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IPsec;</a:t>
                      </a:r>
                      <a:endParaRPr sz="16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198000">
                    <a:lnL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41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/>
              <a:t>Используемое оборудование</a:t>
            </a:r>
            <a:endParaRPr sz="3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/>
          </a:p>
        </p:txBody>
      </p:sp>
      <p:graphicFrame>
        <p:nvGraphicFramePr>
          <p:cNvPr id="207" name="Google Shape;207;p41"/>
          <p:cNvGraphicFramePr/>
          <p:nvPr/>
        </p:nvGraphicFramePr>
        <p:xfrm>
          <a:off x="867800" y="1341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{78346B4A-800E-4B99-96E5-E192E3A25116}</a:tableStyleId>
              </a:tblPr>
              <a:tblGrid>
                <a:gridCol w="489425"/>
                <a:gridCol w="67495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60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b="1" sz="160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Arista vEOS </a:t>
                      </a:r>
                      <a:r>
                        <a:rPr lang="ru" sz="160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в качестве leaf/spine коммутаторов;</a:t>
                      </a:r>
                      <a:endParaRPr sz="1600">
                        <a:solidFill>
                          <a:schemeClr val="dk1"/>
                        </a:solidFill>
                        <a:highlight>
                          <a:schemeClr val="lt1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60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b="1" sz="160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Континент 4 NGFW в качестве spine коммутатора;</a:t>
                      </a:r>
                      <a:endParaRPr sz="1600">
                        <a:solidFill>
                          <a:srgbClr val="0F1115"/>
                        </a:solidFill>
                        <a:highlight>
                          <a:srgbClr val="FFFFFF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60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b="1" sz="160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Континент 4 NGFW в качестве firewall между vrf;</a:t>
                      </a:r>
                      <a:endParaRPr sz="16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60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4.</a:t>
                      </a:r>
                      <a:endParaRPr b="1" sz="160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60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60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5.</a:t>
                      </a:r>
                      <a:endParaRPr b="1" sz="160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Astra Linux в качестве клиента;</a:t>
                      </a:r>
                      <a:endParaRPr sz="1600">
                        <a:solidFill>
                          <a:srgbClr val="0F1115"/>
                        </a:solidFill>
                        <a:highlight>
                          <a:srgbClr val="FFFFFF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solidFill>
                          <a:srgbClr val="0F1115"/>
                        </a:solidFill>
                        <a:highlight>
                          <a:srgbClr val="FFFFFF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>
                          <a:solidFill>
                            <a:srgbClr val="0F1115"/>
                          </a:solidFill>
                          <a:highlight>
                            <a:schemeClr val="lt1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Windows Server в качестве клиента;</a:t>
                      </a:r>
                      <a:endParaRPr sz="1600">
                        <a:solidFill>
                          <a:srgbClr val="0F1115"/>
                        </a:solidFill>
                        <a:highlight>
                          <a:schemeClr val="lt1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600">
                        <a:solidFill>
                          <a:srgbClr val="0F1115"/>
                        </a:solidFill>
                        <a:highlight>
                          <a:schemeClr val="lt1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198000">
                    <a:lnL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42"/>
          <p:cNvSpPr txBox="1"/>
          <p:nvPr>
            <p:ph type="title"/>
          </p:nvPr>
        </p:nvSpPr>
        <p:spPr>
          <a:xfrm>
            <a:off x="228800" y="-1"/>
            <a:ext cx="85206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/>
              <a:t>Что получилось</a:t>
            </a:r>
            <a:endParaRPr sz="3000"/>
          </a:p>
        </p:txBody>
      </p:sp>
      <p:graphicFrame>
        <p:nvGraphicFramePr>
          <p:cNvPr id="213" name="Google Shape;213;p42"/>
          <p:cNvGraphicFramePr/>
          <p:nvPr/>
        </p:nvGraphicFramePr>
        <p:xfrm>
          <a:off x="749175" y="606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{78346B4A-800E-4B99-96E5-E192E3A25116}</a:tableStyleId>
              </a:tblPr>
              <a:tblGrid>
                <a:gridCol w="489425"/>
                <a:gridCol w="6749575"/>
              </a:tblGrid>
              <a:tr h="593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60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b="1" sz="160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Спроектировать адресное пространство и архитектуру с учетом:</a:t>
                      </a:r>
                      <a:endParaRPr>
                        <a:solidFill>
                          <a:schemeClr val="dk1"/>
                        </a:solidFill>
                        <a:highlight>
                          <a:schemeClr val="lt1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-3175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Roboto"/>
                        <a:buChar char="-"/>
                      </a:pPr>
                      <a:r>
                        <a:rPr lang="ru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Количества стоек в новом серверном помещении;</a:t>
                      </a:r>
                      <a:endParaRPr>
                        <a:solidFill>
                          <a:schemeClr val="dk1"/>
                        </a:solidFill>
                        <a:highlight>
                          <a:schemeClr val="lt1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-317500" lvl="0" marL="45720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Roboto"/>
                        <a:buChar char="-"/>
                      </a:pPr>
                      <a:r>
                        <a:rPr lang="ru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Заложить возможностью тиражирования;</a:t>
                      </a:r>
                      <a:endParaRPr>
                        <a:solidFill>
                          <a:schemeClr val="dk1"/>
                        </a:solidFill>
                        <a:highlight>
                          <a:schemeClr val="lt1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45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60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201924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60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Вводные:</a:t>
                      </a:r>
                      <a:endParaRPr>
                        <a:solidFill>
                          <a:srgbClr val="0F1115"/>
                        </a:solidFill>
                        <a:highlight>
                          <a:srgbClr val="FFFFFF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Текущее количество стоек: 18, возможно расширение серверного помещения до 100стоек. Высота стоек 48U;</a:t>
                      </a:r>
                      <a:endParaRPr>
                        <a:solidFill>
                          <a:srgbClr val="0F1115"/>
                        </a:solidFill>
                        <a:highlight>
                          <a:srgbClr val="FFFFFF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Полезная емкость стойки: 36U. За вычетом технических юнитов (БП, патч-панели, КРОСС, технические отступы);</a:t>
                      </a:r>
                      <a:endParaRPr>
                        <a:solidFill>
                          <a:srgbClr val="0F1115"/>
                        </a:solidFill>
                        <a:highlight>
                          <a:srgbClr val="FFFFFF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Leaf коммутаторы 48 портов;</a:t>
                      </a:r>
                      <a:endParaRPr>
                        <a:solidFill>
                          <a:srgbClr val="0F1115"/>
                        </a:solidFill>
                        <a:highlight>
                          <a:srgbClr val="FFFFFF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-201924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ru" sz="160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Решение:</a:t>
                      </a:r>
                      <a:endParaRPr>
                        <a:solidFill>
                          <a:srgbClr val="0F1115"/>
                        </a:solidFill>
                        <a:highlight>
                          <a:srgbClr val="FFFFFF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Количество Leaf-коммутаторов = 2*18(стоек) = </a:t>
                      </a:r>
                      <a:r>
                        <a:rPr b="1" lang="ru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36</a:t>
                      </a:r>
                      <a:r>
                        <a:rPr lang="ru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;</a:t>
                      </a:r>
                      <a:endParaRPr>
                        <a:solidFill>
                          <a:srgbClr val="0F1115"/>
                        </a:solidFill>
                        <a:highlight>
                          <a:srgbClr val="FFFFFF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Максимальное количество серверов в стойке = 36(U) - 2(U) = </a:t>
                      </a:r>
                      <a:r>
                        <a:rPr b="1" lang="ru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34</a:t>
                      </a:r>
                      <a:r>
                        <a:rPr lang="ru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;</a:t>
                      </a:r>
                      <a:endParaRPr>
                        <a:solidFill>
                          <a:srgbClr val="0F1115"/>
                        </a:solidFill>
                        <a:highlight>
                          <a:srgbClr val="FFFFFF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Максимальное количество Spine = 48(портов) - 34(серверов) = </a:t>
                      </a:r>
                      <a:r>
                        <a:rPr b="1" lang="ru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14</a:t>
                      </a:r>
                      <a:r>
                        <a:rPr lang="ru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;</a:t>
                      </a:r>
                      <a:endParaRPr>
                        <a:solidFill>
                          <a:srgbClr val="0F1115"/>
                        </a:solidFill>
                        <a:highlight>
                          <a:srgbClr val="FFFFFF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Максимальное количество серверов = 34*18 = </a:t>
                      </a:r>
                      <a:r>
                        <a:rPr b="1" lang="ru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612</a:t>
                      </a:r>
                      <a:r>
                        <a:rPr lang="ru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;</a:t>
                      </a:r>
                      <a:endParaRPr>
                        <a:solidFill>
                          <a:srgbClr val="0F1115"/>
                        </a:solidFill>
                        <a:highlight>
                          <a:srgbClr val="FFFFFF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Подсеть leaf: 2 * 100 = 200. Нужна маска </a:t>
                      </a:r>
                      <a:r>
                        <a:rPr b="1" lang="ru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/23</a:t>
                      </a:r>
                      <a:r>
                        <a:rPr lang="ru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.</a:t>
                      </a:r>
                      <a:endParaRPr>
                        <a:solidFill>
                          <a:srgbClr val="0F1115"/>
                        </a:solidFill>
                        <a:highlight>
                          <a:srgbClr val="FFFFFF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5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60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60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34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60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60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60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solidFill>
                          <a:srgbClr val="0F1115"/>
                        </a:solidFill>
                        <a:highlight>
                          <a:srgbClr val="FFFFFF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solidFill>
                          <a:srgbClr val="0F1115"/>
                        </a:solidFill>
                        <a:highlight>
                          <a:schemeClr val="lt1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5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198000">
                    <a:lnL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43"/>
          <p:cNvSpPr txBox="1"/>
          <p:nvPr>
            <p:ph type="title"/>
          </p:nvPr>
        </p:nvSpPr>
        <p:spPr>
          <a:xfrm>
            <a:off x="228800" y="-1"/>
            <a:ext cx="85206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/>
              <a:t>Что получилось</a:t>
            </a:r>
            <a:endParaRPr sz="3000"/>
          </a:p>
        </p:txBody>
      </p:sp>
      <p:graphicFrame>
        <p:nvGraphicFramePr>
          <p:cNvPr id="219" name="Google Shape;219;p43"/>
          <p:cNvGraphicFramePr/>
          <p:nvPr/>
        </p:nvGraphicFramePr>
        <p:xfrm>
          <a:off x="714750" y="437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{78346B4A-800E-4B99-96E5-E192E3A25116}</a:tableStyleId>
              </a:tblPr>
              <a:tblGrid>
                <a:gridCol w="489425"/>
                <a:gridCol w="6749575"/>
              </a:tblGrid>
              <a:tr h="132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60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r>
                        <a:rPr b="1" lang="ru" sz="160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.</a:t>
                      </a:r>
                      <a:endParaRPr b="1" sz="160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Собрать тестовый стенд:</a:t>
                      </a:r>
                      <a:endParaRPr>
                        <a:solidFill>
                          <a:schemeClr val="dk1"/>
                        </a:solidFill>
                        <a:highlight>
                          <a:schemeClr val="lt1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3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198000">
                    <a:lnL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3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60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60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60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solidFill>
                          <a:srgbClr val="0F1115"/>
                        </a:solidFill>
                        <a:highlight>
                          <a:srgbClr val="FFFFFF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solidFill>
                          <a:srgbClr val="0F1115"/>
                        </a:solidFill>
                        <a:highlight>
                          <a:schemeClr val="lt1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5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198000">
                    <a:lnL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220" name="Google Shape;220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238" y="810000"/>
            <a:ext cx="9041524" cy="4280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44"/>
          <p:cNvSpPr txBox="1"/>
          <p:nvPr>
            <p:ph type="title"/>
          </p:nvPr>
        </p:nvSpPr>
        <p:spPr>
          <a:xfrm>
            <a:off x="228800" y="-1"/>
            <a:ext cx="85206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/>
              <a:t>Что получилось</a:t>
            </a:r>
            <a:endParaRPr sz="3000"/>
          </a:p>
        </p:txBody>
      </p:sp>
      <p:graphicFrame>
        <p:nvGraphicFramePr>
          <p:cNvPr id="226" name="Google Shape;226;p44"/>
          <p:cNvGraphicFramePr/>
          <p:nvPr/>
        </p:nvGraphicFramePr>
        <p:xfrm>
          <a:off x="749175" y="606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{78346B4A-800E-4B99-96E5-E192E3A25116}</a:tableStyleId>
              </a:tblPr>
              <a:tblGrid>
                <a:gridCol w="489425"/>
                <a:gridCol w="6749575"/>
              </a:tblGrid>
              <a:tr h="593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60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r>
                        <a:rPr b="1" lang="ru" sz="160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.</a:t>
                      </a:r>
                      <a:endParaRPr b="1" sz="160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60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60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r>
                        <a:rPr b="1" lang="ru" sz="160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.</a:t>
                      </a:r>
                      <a:endParaRPr b="1" sz="160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60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ru" sz="160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5.</a:t>
                      </a:r>
                      <a:endParaRPr b="1" sz="160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60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ru" sz="160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6.</a:t>
                      </a:r>
                      <a:endParaRPr b="1" sz="160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60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ru" sz="160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7.</a:t>
                      </a:r>
                      <a:endParaRPr b="1" sz="160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60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ru" sz="160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8.</a:t>
                      </a:r>
                      <a:endParaRPr b="1" sz="160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60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ru" sz="160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9.</a:t>
                      </a:r>
                      <a:endParaRPr b="1" sz="160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60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b="1" sz="160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60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60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Roboto"/>
                        <a:buNone/>
                      </a:pPr>
                      <a:r>
                        <a:rPr lang="ru" sz="1600"/>
                        <a:t>Настроить underlay на Arista с использованием OSPF;</a:t>
                      </a:r>
                      <a:endParaRPr sz="16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Roboto"/>
                        <a:buNone/>
                      </a:pPr>
                      <a:r>
                        <a:t/>
                      </a:r>
                      <a:endParaRPr sz="16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Roboto"/>
                        <a:buNone/>
                      </a:pPr>
                      <a:r>
                        <a:rPr lang="ru" sz="1600"/>
                        <a:t>Настроить VxLAN l2VNI и L3VNI;</a:t>
                      </a:r>
                      <a:endParaRPr sz="16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Roboto"/>
                        <a:buNone/>
                      </a:pPr>
                      <a:r>
                        <a:t/>
                      </a:r>
                      <a:endParaRPr sz="16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Roboto"/>
                        <a:buNone/>
                      </a:pPr>
                      <a:r>
                        <a:rPr lang="ru" sz="1600"/>
                        <a:t>Настроить VxLAN Multihoming (ESI-LAG);</a:t>
                      </a:r>
                      <a:endParaRPr sz="1600">
                        <a:solidFill>
                          <a:srgbClr val="0F1115"/>
                        </a:solidFill>
                        <a:highlight>
                          <a:srgbClr val="FFFFFF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Roboto"/>
                        <a:buNone/>
                      </a:pPr>
                      <a:r>
                        <a:t/>
                      </a:r>
                      <a:endParaRPr sz="1600">
                        <a:solidFill>
                          <a:srgbClr val="0F1115"/>
                        </a:solidFill>
                        <a:highlight>
                          <a:srgbClr val="FFFFFF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Roboto"/>
                        <a:buNone/>
                      </a:pPr>
                      <a:r>
                        <a:rPr lang="ru" sz="1600">
                          <a:solidFill>
                            <a:schemeClr val="dk1"/>
                          </a:solidFill>
                        </a:rPr>
                        <a:t>Создать несколько vrf (зоны безопасности: infra, sec, mgmt, adm);</a:t>
                      </a:r>
                      <a:endParaRPr sz="1600">
                        <a:solidFill>
                          <a:srgbClr val="0F1115"/>
                        </a:solidFill>
                        <a:highlight>
                          <a:srgbClr val="FFFFFF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Roboto"/>
                        <a:buNone/>
                      </a:pPr>
                      <a:r>
                        <a:t/>
                      </a:r>
                      <a:endParaRPr sz="1600">
                        <a:solidFill>
                          <a:srgbClr val="0F1115"/>
                        </a:solidFill>
                        <a:highlight>
                          <a:srgbClr val="FFFFFF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Roboto"/>
                        <a:buNone/>
                      </a:pPr>
                      <a:r>
                        <a:rPr lang="ru" sz="1600">
                          <a:solidFill>
                            <a:schemeClr val="dk1"/>
                          </a:solidFill>
                        </a:rPr>
                        <a:t>Настроить bgp peering между каждым vrf и Континент 4 NGFW;</a:t>
                      </a:r>
                      <a:endParaRPr sz="1600">
                        <a:solidFill>
                          <a:srgbClr val="0F1115"/>
                        </a:solidFill>
                        <a:highlight>
                          <a:srgbClr val="FFFFFF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Roboto"/>
                        <a:buNone/>
                      </a:pPr>
                      <a:r>
                        <a:t/>
                      </a:r>
                      <a:endParaRPr sz="1600">
                        <a:solidFill>
                          <a:srgbClr val="0F1115"/>
                        </a:solidFill>
                        <a:highlight>
                          <a:srgbClr val="FFFFFF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Roboto"/>
                        <a:buNone/>
                      </a:pPr>
                      <a:r>
                        <a:rPr lang="ru" sz="1600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Настроить редистрибьюцию статических маршрутов на К4;</a:t>
                      </a:r>
                      <a:endParaRPr sz="1600">
                        <a:solidFill>
                          <a:srgbClr val="0F1115"/>
                        </a:solidFill>
                        <a:highlight>
                          <a:srgbClr val="FFFFFF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Roboto"/>
                        <a:buNone/>
                      </a:pPr>
                      <a:r>
                        <a:t/>
                      </a:r>
                      <a:endParaRPr sz="1600">
                        <a:solidFill>
                          <a:srgbClr val="0F1115"/>
                        </a:solidFill>
                        <a:highlight>
                          <a:srgbClr val="FFFFFF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Roboto"/>
                        <a:buNone/>
                      </a:pPr>
                      <a:r>
                        <a:rPr lang="ru" sz="1600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Настроить IPsec на К4;</a:t>
                      </a:r>
                      <a:endParaRPr sz="1600">
                        <a:solidFill>
                          <a:srgbClr val="0F1115"/>
                        </a:solidFill>
                        <a:highlight>
                          <a:srgbClr val="FFFFFF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45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60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198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5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60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60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34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60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60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60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solidFill>
                          <a:srgbClr val="0F1115"/>
                        </a:solidFill>
                        <a:highlight>
                          <a:srgbClr val="FFFFFF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solidFill>
                          <a:srgbClr val="0F1115"/>
                        </a:solidFill>
                        <a:highlight>
                          <a:schemeClr val="lt1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5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198000">
                    <a:lnL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45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3400"/>
              <a:t>Выводы</a:t>
            </a:r>
            <a:endParaRPr sz="3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/>
          </a:p>
        </p:txBody>
      </p:sp>
      <p:graphicFrame>
        <p:nvGraphicFramePr>
          <p:cNvPr id="232" name="Google Shape;232;p45"/>
          <p:cNvGraphicFramePr/>
          <p:nvPr/>
        </p:nvGraphicFramePr>
        <p:xfrm>
          <a:off x="952500" y="1718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{78346B4A-800E-4B99-96E5-E192E3A25116}</a:tableStyleId>
              </a:tblPr>
              <a:tblGrid>
                <a:gridCol w="489425"/>
                <a:gridCol w="67495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60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b="1" sz="160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60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b="1" sz="160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60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b="1" sz="160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198000">
                    <a:lnL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233" name="Google Shape;233;p45"/>
          <p:cNvGrpSpPr/>
          <p:nvPr/>
        </p:nvGrpSpPr>
        <p:grpSpPr>
          <a:xfrm>
            <a:off x="3633259" y="1248968"/>
            <a:ext cx="5534664" cy="2335504"/>
            <a:chOff x="4729635" y="887067"/>
            <a:chExt cx="3375207" cy="1399343"/>
          </a:xfrm>
        </p:grpSpPr>
        <p:pic>
          <p:nvPicPr>
            <p:cNvPr id="234" name="Google Shape;234;p4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729635" y="887067"/>
              <a:ext cx="3375207" cy="1399343"/>
            </a:xfrm>
            <a:prstGeom prst="rect">
              <a:avLst/>
            </a:prstGeom>
            <a:noFill/>
            <a:ln>
              <a:noFill/>
            </a:ln>
            <a:effectLst>
              <a:outerShdw blurRad="200025" rotWithShape="0" algn="bl" dir="4200000" dist="28575">
                <a:srgbClr val="000000">
                  <a:alpha val="30000"/>
                </a:srgbClr>
              </a:outerShdw>
            </a:effectLst>
          </p:spPr>
        </p:pic>
        <p:sp>
          <p:nvSpPr>
            <p:cNvPr id="235" name="Google Shape;235;p45"/>
            <p:cNvSpPr txBox="1"/>
            <p:nvPr/>
          </p:nvSpPr>
          <p:spPr>
            <a:xfrm>
              <a:off x="5208319" y="1064138"/>
              <a:ext cx="2869500" cy="10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ru" sz="1100">
                  <a:solidFill>
                    <a:schemeClr val="dk1"/>
                  </a:solidFill>
                </a:rPr>
                <a:t>Оцените работу над проектом и ответьте на вопросы:</a:t>
              </a:r>
              <a:endParaRPr b="1" sz="1100">
                <a:solidFill>
                  <a:schemeClr val="dk1"/>
                </a:solidFill>
              </a:endParaRPr>
            </a:p>
            <a:p>
              <a:pPr indent="-298450" lvl="0" marL="45720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AutoNum type="arabicPeriod"/>
              </a:pPr>
              <a:r>
                <a:rPr lang="ru" sz="1100">
                  <a:solidFill>
                    <a:schemeClr val="dk1"/>
                  </a:solidFill>
                </a:rPr>
                <a:t>У вас получилось достичь цели и выполнить все задачи?</a:t>
              </a:r>
              <a:endParaRPr sz="1100">
                <a:solidFill>
                  <a:schemeClr val="dk1"/>
                </a:solidFill>
              </a:endParaRPr>
            </a:p>
            <a:p>
              <a:pPr indent="-298450" lvl="0" marL="45720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AutoNum type="arabicPeriod"/>
              </a:pPr>
              <a:r>
                <a:rPr lang="ru" sz="1100">
                  <a:solidFill>
                    <a:schemeClr val="dk1"/>
                  </a:solidFill>
                </a:rPr>
                <a:t>Что далось легко, а с чем возникли трудности?</a:t>
              </a:r>
              <a:endParaRPr sz="1100">
                <a:solidFill>
                  <a:schemeClr val="dk1"/>
                </a:solidFill>
              </a:endParaRPr>
            </a:p>
            <a:p>
              <a:pPr indent="-298450" lvl="0" marL="45720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AutoNum type="arabicPeriod"/>
              </a:pPr>
              <a:r>
                <a:rPr lang="ru" sz="1100">
                  <a:solidFill>
                    <a:schemeClr val="dk1"/>
                  </a:solidFill>
                </a:rPr>
                <a:t>Сколько времени занял проект?</a:t>
              </a:r>
              <a:endParaRPr sz="1100">
                <a:solidFill>
                  <a:schemeClr val="dk1"/>
                </a:solidFill>
              </a:endParaRPr>
            </a:p>
            <a:p>
              <a:pPr indent="-298450" lvl="0" marL="45720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AutoNum type="arabicPeriod"/>
              </a:pPr>
              <a:r>
                <a:rPr lang="ru" sz="1100">
                  <a:solidFill>
                    <a:schemeClr val="dk1"/>
                  </a:solidFill>
                </a:rPr>
                <a:t>Насколько полезным оказался для вас проект от 1 до 10?</a:t>
              </a:r>
              <a:endParaRPr sz="1100">
                <a:solidFill>
                  <a:schemeClr val="dk1"/>
                </a:solidFill>
              </a:endParaRPr>
            </a:p>
            <a:p>
              <a:pPr indent="-298450" lvl="1" marL="91440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AutoNum type="alphaLcPeriod"/>
              </a:pPr>
              <a:r>
                <a:rPr lang="ru" sz="1100">
                  <a:solidFill>
                    <a:schemeClr val="dk1"/>
                  </a:solidFill>
                </a:rPr>
                <a:t>1 = я не научился ничему новому</a:t>
              </a:r>
              <a:endParaRPr sz="1100">
                <a:solidFill>
                  <a:schemeClr val="dk1"/>
                </a:solidFill>
              </a:endParaRPr>
            </a:p>
            <a:p>
              <a:pPr indent="-298450" lvl="1" marL="91440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AutoNum type="alphaLcPeriod"/>
              </a:pPr>
              <a:r>
                <a:rPr lang="ru" sz="1100">
                  <a:solidFill>
                    <a:schemeClr val="dk1"/>
                  </a:solidFill>
                </a:rPr>
                <a:t>10 = очень полезно, я получил новый опыт</a:t>
              </a:r>
              <a:endParaRPr sz="1100">
                <a:solidFill>
                  <a:schemeClr val="dk1"/>
                </a:solidFill>
              </a:endParaRPr>
            </a:p>
            <a:p>
              <a:pPr indent="-298450" lvl="0" marL="45720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AutoNum type="arabicPeriod"/>
              </a:pPr>
              <a:r>
                <a:rPr lang="ru" sz="1100">
                  <a:solidFill>
                    <a:schemeClr val="dk1"/>
                  </a:solidFill>
                </a:rPr>
                <a:t>Остались ли у вас вопросы по проекту?</a:t>
              </a:r>
              <a:endParaRPr sz="1100">
                <a:solidFill>
                  <a:schemeClr val="dk1"/>
                </a:solidFill>
              </a:endParaRPr>
            </a:p>
            <a:p>
              <a:pPr indent="-298450" lvl="0" marL="45720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AutoNum type="arabicPeriod"/>
              </a:pPr>
              <a:r>
                <a:rPr lang="ru" sz="1100">
                  <a:solidFill>
                    <a:schemeClr val="dk1"/>
                  </a:solidFill>
                </a:rPr>
                <a:t>Как вы планируете развиваться дальше?</a:t>
              </a:r>
              <a:endPara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0" name="Google Shape;240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21602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46"/>
          <p:cNvSpPr txBox="1"/>
          <p:nvPr/>
        </p:nvSpPr>
        <p:spPr>
          <a:xfrm>
            <a:off x="387050" y="1844625"/>
            <a:ext cx="75843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Вопросы и рекомендации</a:t>
            </a:r>
            <a:endParaRPr b="1" sz="45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2" name="Google Shape;242;p46"/>
          <p:cNvSpPr txBox="1"/>
          <p:nvPr/>
        </p:nvSpPr>
        <p:spPr>
          <a:xfrm>
            <a:off x="1214696" y="3061975"/>
            <a:ext cx="19275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если есть вопросы</a:t>
            </a:r>
            <a:endParaRPr sz="15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3" name="Google Shape;243;p46"/>
          <p:cNvSpPr txBox="1"/>
          <p:nvPr/>
        </p:nvSpPr>
        <p:spPr>
          <a:xfrm>
            <a:off x="4934996" y="3061975"/>
            <a:ext cx="2145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 sz="1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если вопросов нет</a:t>
            </a:r>
            <a:endParaRPr sz="15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4" name="Google Shape;244;p46"/>
          <p:cNvSpPr txBox="1"/>
          <p:nvPr/>
        </p:nvSpPr>
        <p:spPr>
          <a:xfrm>
            <a:off x="723000" y="2846425"/>
            <a:ext cx="4917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4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endParaRPr sz="43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5" name="Google Shape;245;p46"/>
          <p:cNvSpPr txBox="1"/>
          <p:nvPr/>
        </p:nvSpPr>
        <p:spPr>
          <a:xfrm>
            <a:off x="4443300" y="2846425"/>
            <a:ext cx="4917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4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– </a:t>
            </a:r>
            <a:endParaRPr sz="43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246" name="Google Shape;246;p46"/>
          <p:cNvGrpSpPr/>
          <p:nvPr/>
        </p:nvGrpSpPr>
        <p:grpSpPr>
          <a:xfrm>
            <a:off x="5573613" y="528650"/>
            <a:ext cx="3356305" cy="1236599"/>
            <a:chOff x="4729635" y="887067"/>
            <a:chExt cx="3375207" cy="1399343"/>
          </a:xfrm>
        </p:grpSpPr>
        <p:pic>
          <p:nvPicPr>
            <p:cNvPr id="247" name="Google Shape;247;p4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729635" y="887067"/>
              <a:ext cx="3375207" cy="1399343"/>
            </a:xfrm>
            <a:prstGeom prst="rect">
              <a:avLst/>
            </a:prstGeom>
            <a:noFill/>
            <a:ln>
              <a:noFill/>
            </a:ln>
            <a:effectLst>
              <a:outerShdw blurRad="200025" rotWithShape="0" algn="bl" dir="4200000" dist="28575">
                <a:srgbClr val="000000">
                  <a:alpha val="30000"/>
                </a:srgbClr>
              </a:outerShdw>
            </a:effectLst>
          </p:spPr>
        </p:pic>
        <p:sp>
          <p:nvSpPr>
            <p:cNvPr id="248" name="Google Shape;248;p46"/>
            <p:cNvSpPr txBox="1"/>
            <p:nvPr/>
          </p:nvSpPr>
          <p:spPr>
            <a:xfrm>
              <a:off x="5236901" y="1064135"/>
              <a:ext cx="2694600" cy="104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ru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Ответьте на вопросы одногруппников и преподавателей и получите обратную связь на свою работу</a:t>
              </a:r>
              <a:endParaRPr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Светлая тема">
  <a:themeElements>
    <a:clrScheme name="Simple Light">
      <a:dk1>
        <a:srgbClr val="000000"/>
      </a:dk1>
      <a:lt1>
        <a:srgbClr val="FFFFFF"/>
      </a:lt1>
      <a:dk2>
        <a:srgbClr val="6402BA"/>
      </a:dk2>
      <a:lt2>
        <a:srgbClr val="EEEEEE"/>
      </a:lt2>
      <a:accent1>
        <a:srgbClr val="7629BA"/>
      </a:accent1>
      <a:accent2>
        <a:srgbClr val="8B8EE3"/>
      </a:accent2>
      <a:accent3>
        <a:srgbClr val="BFC1F0"/>
      </a:accent3>
      <a:accent4>
        <a:srgbClr val="FFAB40"/>
      </a:accent4>
      <a:accent5>
        <a:srgbClr val="0097A7"/>
      </a:accent5>
      <a:accent6>
        <a:srgbClr val="EEFF41"/>
      </a:accent6>
      <a:hlink>
        <a:srgbClr val="8B8EE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