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25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media/image1.png" ContentType="image/png"/>
  <Override PartName="/ppt/media/image2.jpeg" ContentType="image/jpeg"/>
  <Override PartName="/ppt/media/image8.png" ContentType="image/png"/>
  <Override PartName="/ppt/media/image3.jpeg" ContentType="image/jpeg"/>
  <Override PartName="/ppt/media/image5.png" ContentType="image/png"/>
  <Override PartName="/ppt/media/image4.png" ContentType="image/png"/>
  <Override PartName="/ppt/media/image6.png" ContentType="image/png"/>
  <Override PartName="/ppt/media/image7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3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5.xml"/><Relationship Id="rId4" Type="http://schemas.openxmlformats.org/officeDocument/2006/relationships/slideMaster" Target="slideMasters/slideMaster2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<Relationship Id="rId3" Type="http://schemas.openxmlformats.org/officeDocument/2006/relationships/image" Target="../media/image4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<Relationship Id="rId3" Type="http://schemas.openxmlformats.org/officeDocument/2006/relationships/image" Target="../media/image5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Google Shape;49;p12"/>
          <p:cNvSpPr/>
          <p:nvPr/>
        </p:nvSpPr>
        <p:spPr>
          <a:xfrm>
            <a:off x="590400" y="1365120"/>
            <a:ext cx="7987320" cy="3411360"/>
          </a:xfrm>
          <a:prstGeom prst="rect">
            <a:avLst/>
          </a:prstGeom>
          <a:solidFill>
            <a:srgbClr val="fbfb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Google Shape;53;p13"/>
          <p:cNvSpPr/>
          <p:nvPr/>
        </p:nvSpPr>
        <p:spPr>
          <a:xfrm>
            <a:off x="590400" y="1365120"/>
            <a:ext cx="7987320" cy="34113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Google Shape;58;p14"/>
          <p:cNvSpPr/>
          <p:nvPr/>
        </p:nvSpPr>
        <p:spPr>
          <a:xfrm>
            <a:off x="606240" y="2144160"/>
            <a:ext cx="7937640" cy="2463480"/>
          </a:xfrm>
          <a:prstGeom prst="rect">
            <a:avLst/>
          </a:prstGeom>
          <a:solidFill>
            <a:srgbClr val="fbfb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_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Google Shape;62;p15"/>
          <p:cNvSpPr/>
          <p:nvPr/>
        </p:nvSpPr>
        <p:spPr>
          <a:xfrm>
            <a:off x="362160" y="1384200"/>
            <a:ext cx="4747680" cy="3392280"/>
          </a:xfrm>
          <a:prstGeom prst="rect">
            <a:avLst/>
          </a:prstGeom>
          <a:solidFill>
            <a:srgbClr val="fbfb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0;p2" descr=""/>
          <p:cNvPicPr/>
          <p:nvPr/>
        </p:nvPicPr>
        <p:blipFill>
          <a:blip r:embed="rId3"/>
          <a:srcRect l="98" t="0" r="98" b="0"/>
          <a:stretch/>
        </p:blipFill>
        <p:spPr>
          <a:xfrm>
            <a:off x="-18000" y="-10080"/>
            <a:ext cx="9193680" cy="518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44640" y="1769040"/>
            <a:ext cx="7378560" cy="237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5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4400" cy="114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008611-C2DF-4838-8B51-697002C57779}" type="slidenum">
              <a: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5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0400" y="1426320"/>
            <a:ext cx="8519400" cy="341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E9B808-429C-4F17-9D41-07A54BF1C798}" type="slidenum">
              <a: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C9E368-4E09-4694-9029-05FA4AE81D3F}" type="slidenum">
              <a: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title"/>
          </p:nvPr>
        </p:nvSpPr>
        <p:spPr>
          <a:xfrm>
            <a:off x="500400" y="821160"/>
            <a:ext cx="8519400" cy="198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19FB2EA-11B6-4FBA-A617-3D804DD33714}" type="slidenum">
              <a: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" name="Google Shape;31;p7" descr=""/>
          <p:cNvPicPr/>
          <p:nvPr/>
        </p:nvPicPr>
        <p:blipFill>
          <a:blip r:embed="rId3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651600" y="396360"/>
            <a:ext cx="7705080" cy="408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38;p9"/>
          <p:cNvSpPr/>
          <p:nvPr/>
        </p:nvSpPr>
        <p:spPr>
          <a:xfrm>
            <a:off x="4572000" y="0"/>
            <a:ext cx="4570920" cy="5142600"/>
          </a:xfrm>
          <a:prstGeom prst="rect">
            <a:avLst/>
          </a:prstGeom>
          <a:solidFill>
            <a:srgbClr val="f3f3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120" y="1220760"/>
            <a:ext cx="4044240" cy="148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5800" cy="369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0C5AA67-ABAF-45B9-8EB8-D62B8A284184}" type="slidenum">
              <a: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C6BE81-C955-4746-A80C-AF0AE0C2DFCC}" type="slidenum">
              <a: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93;p21"/>
          <p:cNvSpPr/>
          <p:nvPr/>
        </p:nvSpPr>
        <p:spPr>
          <a:xfrm>
            <a:off x="556200" y="4554000"/>
            <a:ext cx="423900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4240" bIns="842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добавьте ссылку на источник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4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51600" y="2212200"/>
            <a:ext cx="770508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5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4" name="Google Shape;98;p23"/>
          <p:cNvGraphicFramePr/>
          <p:nvPr/>
        </p:nvGraphicFramePr>
        <p:xfrm>
          <a:off x="608760" y="1593720"/>
          <a:ext cx="7959960" cy="2874960"/>
        </p:xfrm>
        <a:graphic>
          <a:graphicData uri="http://schemas.openxmlformats.org/drawingml/2006/table">
            <a:tbl>
              <a:tblPr/>
              <a:tblGrid>
                <a:gridCol w="395640"/>
                <a:gridCol w="2403360"/>
                <a:gridCol w="2684520"/>
                <a:gridCol w="2476800"/>
              </a:tblGrid>
              <a:tr h="705960">
                <a:tc>
                  <a:txBody>
                    <a:bodyPr lIns="91080" r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Название столбца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Название столбца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Название столбца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12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400" strike="noStrike" u="non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1.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Текст нежирным шрифтом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Текст нежирным шрифтом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Текст нежирным шрифтом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42012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400" strike="noStrike" u="non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2.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42012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400" strike="noStrike" u="non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3.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42012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400" strike="noStrike" u="non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4.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42012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400" strike="noStrike" u="non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5.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6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03CEB4C-69C5-476C-A3E3-5BC655708361}" type="slidenum">
              <a: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Google Shape;101;p24"/>
          <p:cNvSpPr/>
          <p:nvPr/>
        </p:nvSpPr>
        <p:spPr>
          <a:xfrm>
            <a:off x="791640" y="1039320"/>
            <a:ext cx="3639600" cy="70488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Google Shape;102;p24"/>
          <p:cNvSpPr/>
          <p:nvPr/>
        </p:nvSpPr>
        <p:spPr>
          <a:xfrm>
            <a:off x="791640" y="1904760"/>
            <a:ext cx="3639600" cy="70488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Google Shape;103;p24"/>
          <p:cNvSpPr/>
          <p:nvPr/>
        </p:nvSpPr>
        <p:spPr>
          <a:xfrm>
            <a:off x="791640" y="2770560"/>
            <a:ext cx="3639600" cy="70488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Google Shape;104;p24"/>
          <p:cNvSpPr/>
          <p:nvPr/>
        </p:nvSpPr>
        <p:spPr>
          <a:xfrm>
            <a:off x="791640" y="3636360"/>
            <a:ext cx="3639600" cy="70488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Google Shape;105;p24"/>
          <p:cNvSpPr/>
          <p:nvPr/>
        </p:nvSpPr>
        <p:spPr>
          <a:xfrm>
            <a:off x="5533920" y="1409040"/>
            <a:ext cx="2467800" cy="2467800"/>
          </a:xfrm>
          <a:prstGeom prst="roundRect">
            <a:avLst>
              <a:gd name="adj" fmla="val 16667"/>
            </a:avLst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7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Google Shape;110;p26"/>
          <p:cNvSpPr/>
          <p:nvPr/>
        </p:nvSpPr>
        <p:spPr>
          <a:xfrm>
            <a:off x="932760" y="1748160"/>
            <a:ext cx="2126880" cy="2928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111;p26"/>
          <p:cNvSpPr/>
          <p:nvPr/>
        </p:nvSpPr>
        <p:spPr>
          <a:xfrm>
            <a:off x="3436560" y="1748160"/>
            <a:ext cx="2126880" cy="2928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Google Shape;112;p26"/>
          <p:cNvSpPr/>
          <p:nvPr/>
        </p:nvSpPr>
        <p:spPr>
          <a:xfrm>
            <a:off x="5940000" y="1748160"/>
            <a:ext cx="2126880" cy="2928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113;p26"/>
          <p:cNvSpPr/>
          <p:nvPr/>
        </p:nvSpPr>
        <p:spPr>
          <a:xfrm>
            <a:off x="1073520" y="2075040"/>
            <a:ext cx="184500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ru" sz="1100" strike="noStrike" u="non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Поле для текста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Google Shape;114;p26"/>
          <p:cNvSpPr/>
          <p:nvPr/>
        </p:nvSpPr>
        <p:spPr>
          <a:xfrm>
            <a:off x="3530880" y="2075040"/>
            <a:ext cx="193788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ru" sz="1100" strike="noStrike" u="non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Поле для текста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115;p26"/>
          <p:cNvSpPr/>
          <p:nvPr/>
        </p:nvSpPr>
        <p:spPr>
          <a:xfrm>
            <a:off x="6081120" y="2075040"/>
            <a:ext cx="1937880" cy="35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ru" sz="1100" strike="noStrike" u="non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Поле для текста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95360" y="1494000"/>
            <a:ext cx="4422960" cy="73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Google Shape;71;p17" descr=""/>
          <p:cNvPicPr/>
          <p:nvPr/>
        </p:nvPicPr>
        <p:blipFill>
          <a:blip r:embed="rId3"/>
          <a:stretch/>
        </p:blipFill>
        <p:spPr>
          <a:xfrm>
            <a:off x="5283720" y="843120"/>
            <a:ext cx="3456360" cy="34563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4440" y="2342520"/>
            <a:ext cx="793440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57C94B-7D8B-4622-8E91-DEAB7E003A3B}" type="slidenum">
              <a: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Google Shape;77;p19" descr=""/>
          <p:cNvPicPr/>
          <p:nvPr/>
        </p:nvPicPr>
        <p:blipFill>
          <a:blip r:embed="rId3"/>
          <a:stretch/>
        </p:blipFill>
        <p:spPr>
          <a:xfrm>
            <a:off x="922680" y="1821240"/>
            <a:ext cx="1641960" cy="754200"/>
          </a:xfrm>
          <a:prstGeom prst="rect">
            <a:avLst/>
          </a:prstGeom>
          <a:noFill/>
          <a:ln w="0">
            <a:noFill/>
          </a:ln>
          <a:effectLst>
            <a:outerShdw algn="bl" blurRad="142920" dir="5400000" dist="28440" rotWithShape="0">
              <a:srgbClr val="000000">
                <a:alpha val="41000"/>
              </a:srgbClr>
            </a:outerShdw>
          </a:effectLst>
        </p:spPr>
      </p:pic>
      <p:pic>
        <p:nvPicPr>
          <p:cNvPr id="56" name="Google Shape;78;p19" descr=""/>
          <p:cNvPicPr/>
          <p:nvPr/>
        </p:nvPicPr>
        <p:blipFill>
          <a:blip r:embed="rId4"/>
          <a:stretch/>
        </p:blipFill>
        <p:spPr>
          <a:xfrm>
            <a:off x="2768400" y="1821240"/>
            <a:ext cx="1641960" cy="754200"/>
          </a:xfrm>
          <a:prstGeom prst="rect">
            <a:avLst/>
          </a:prstGeom>
          <a:noFill/>
          <a:ln w="0">
            <a:noFill/>
          </a:ln>
          <a:effectLst>
            <a:outerShdw algn="bl" blurRad="142920" dir="5400000" dist="28440" rotWithShape="0">
              <a:srgbClr val="000000">
                <a:alpha val="41000"/>
              </a:srgbClr>
            </a:outerShdw>
          </a:effectLst>
        </p:spPr>
      </p:pic>
      <p:pic>
        <p:nvPicPr>
          <p:cNvPr id="57" name="Google Shape;79;p19" descr=""/>
          <p:cNvPicPr/>
          <p:nvPr/>
        </p:nvPicPr>
        <p:blipFill>
          <a:blip r:embed="rId5"/>
          <a:stretch/>
        </p:blipFill>
        <p:spPr>
          <a:xfrm>
            <a:off x="4527720" y="1821240"/>
            <a:ext cx="1641960" cy="754200"/>
          </a:xfrm>
          <a:prstGeom prst="rect">
            <a:avLst/>
          </a:prstGeom>
          <a:noFill/>
          <a:ln w="0">
            <a:noFill/>
          </a:ln>
          <a:effectLst>
            <a:outerShdw algn="bl" blurRad="142920" dir="5400000" dist="28440" rotWithShape="0">
              <a:srgbClr val="000000">
                <a:alpha val="41000"/>
              </a:srgbClr>
            </a:outerShdw>
          </a:effectLst>
        </p:spPr>
      </p:pic>
      <p:pic>
        <p:nvPicPr>
          <p:cNvPr id="58" name="Google Shape;80;p19" descr=""/>
          <p:cNvPicPr/>
          <p:nvPr/>
        </p:nvPicPr>
        <p:blipFill>
          <a:blip r:embed="rId6"/>
          <a:stretch/>
        </p:blipFill>
        <p:spPr>
          <a:xfrm>
            <a:off x="6347160" y="1821240"/>
            <a:ext cx="1641960" cy="754200"/>
          </a:xfrm>
          <a:prstGeom prst="rect">
            <a:avLst/>
          </a:prstGeom>
          <a:noFill/>
          <a:ln w="0">
            <a:noFill/>
          </a:ln>
          <a:effectLst>
            <a:outerShdw algn="bl" blurRad="142920" dir="5400000" dist="28440" rotWithShape="0">
              <a:srgbClr val="000000">
                <a:alpha val="41000"/>
              </a:srgbClr>
            </a:outerShdw>
          </a:effectLst>
        </p:spPr>
      </p:pic>
      <p:sp>
        <p:nvSpPr>
          <p:cNvPr id="59" name="Google Shape;81;p19"/>
          <p:cNvSpPr/>
          <p:nvPr/>
        </p:nvSpPr>
        <p:spPr>
          <a:xfrm>
            <a:off x="1212840" y="1944720"/>
            <a:ext cx="1062000" cy="4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500" strike="noStrike" u="none">
                <a:solidFill>
                  <a:srgbClr val="eeeeee"/>
                </a:solidFill>
                <a:effectLst/>
                <a:uFillTx/>
                <a:latin typeface="Roboto"/>
                <a:ea typeface="Roboto"/>
              </a:rPr>
              <a:t>Этап 1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Google Shape;82;p19"/>
          <p:cNvSpPr/>
          <p:nvPr/>
        </p:nvSpPr>
        <p:spPr>
          <a:xfrm>
            <a:off x="3058560" y="1944720"/>
            <a:ext cx="1062000" cy="4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500" strike="noStrike" u="none">
                <a:solidFill>
                  <a:srgbClr val="eeeeee"/>
                </a:solidFill>
                <a:effectLst/>
                <a:uFillTx/>
                <a:latin typeface="Roboto"/>
                <a:ea typeface="Roboto"/>
              </a:rPr>
              <a:t>Этап 2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Google Shape;83;p19"/>
          <p:cNvSpPr/>
          <p:nvPr/>
        </p:nvSpPr>
        <p:spPr>
          <a:xfrm>
            <a:off x="4817880" y="1944720"/>
            <a:ext cx="1062000" cy="4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500" strike="noStrike" u="none">
                <a:solidFill>
                  <a:srgbClr val="eeeeee"/>
                </a:solidFill>
                <a:effectLst/>
                <a:uFillTx/>
                <a:latin typeface="Roboto"/>
                <a:ea typeface="Roboto"/>
              </a:rPr>
              <a:t>Этап 3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84;p19"/>
          <p:cNvSpPr/>
          <p:nvPr/>
        </p:nvSpPr>
        <p:spPr>
          <a:xfrm>
            <a:off x="6637320" y="1944720"/>
            <a:ext cx="1062000" cy="4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500" strike="noStrike" u="none">
                <a:solidFill>
                  <a:srgbClr val="eeeeee"/>
                </a:solidFill>
                <a:effectLst/>
                <a:uFillTx/>
                <a:latin typeface="Roboto"/>
                <a:ea typeface="Roboto"/>
              </a:rPr>
              <a:t>Этап 4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85;p19"/>
          <p:cNvSpPr/>
          <p:nvPr/>
        </p:nvSpPr>
        <p:spPr>
          <a:xfrm>
            <a:off x="982800" y="3241440"/>
            <a:ext cx="1522080" cy="10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ru" sz="90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Описание данных в виде набора сущностей, отношений между ними, атрибутов сущностей,  их типов данных, соглашений 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ru" sz="90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об именовании и правил проверки целостностей 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86;p19"/>
          <p:cNvSpPr/>
          <p:nvPr/>
        </p:nvSpPr>
        <p:spPr>
          <a:xfrm>
            <a:off x="2828520" y="3241440"/>
            <a:ext cx="1522080" cy="10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ru" sz="90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Описание данных в виде набора сущностей, отношений между ними, атрибутов сущностей,  их типов данных, соглашений 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ru" sz="90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об именовании и правил проверки целостностей 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87;p19"/>
          <p:cNvSpPr/>
          <p:nvPr/>
        </p:nvSpPr>
        <p:spPr>
          <a:xfrm>
            <a:off x="4587840" y="3241440"/>
            <a:ext cx="1522080" cy="10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ru" sz="90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Описание данных в виде набора сущностей, отношений между ними, атрибутов сущностей,  их типов данных, соглашений 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ru" sz="90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об именовании и правил проверки целостностей 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88;p19"/>
          <p:cNvSpPr/>
          <p:nvPr/>
        </p:nvSpPr>
        <p:spPr>
          <a:xfrm>
            <a:off x="6406920" y="3241440"/>
            <a:ext cx="1522080" cy="10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ru" sz="90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Описание данных в виде набора сущностей, отношений между ними, атрибутов сущностей,  их типов данных, соглашений 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ru" sz="90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об именовании и правил проверки целостностей 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8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8" name="Google Shape;91;p20"/>
          <p:cNvGraphicFramePr/>
          <p:nvPr/>
        </p:nvGraphicFramePr>
        <p:xfrm>
          <a:off x="655560" y="1745640"/>
          <a:ext cx="8209800" cy="1494720"/>
        </p:xfrm>
        <a:graphic>
          <a:graphicData uri="http://schemas.openxmlformats.org/drawingml/2006/table">
            <a:tbl>
              <a:tblPr/>
              <a:tblGrid>
                <a:gridCol w="3800160"/>
                <a:gridCol w="4410000"/>
              </a:tblGrid>
              <a:tr h="47880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Aft>
                          <a:spcPts val="1001"/>
                        </a:spcAft>
                        <a:tabLst>
                          <a:tab algn="l" pos="0"/>
                        </a:tabLst>
                      </a:pPr>
                      <a:r>
                        <a:rPr b="1" lang="ru" sz="1700" strike="noStrike" u="non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1. Описание эксперимента</a:t>
                      </a:r>
                      <a:r>
                        <a:rPr b="1" lang="ru" sz="17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 </a:t>
                      </a:r>
                      <a:endParaRPr b="0" lang="ru-RU" sz="17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Aft>
                          <a:spcPts val="1001"/>
                        </a:spcAft>
                        <a:tabLst>
                          <a:tab algn="l" pos="0"/>
                        </a:tabLst>
                      </a:pPr>
                      <a:r>
                        <a:rPr b="1" lang="ru" sz="1700" strike="noStrike" u="non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2. Технические детали</a:t>
                      </a:r>
                      <a:endParaRPr b="0" lang="ru-RU" sz="17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1015920">
                <a:tc>
                  <a:txBody>
                    <a:bodyPr lIns="91080" rIns="91080" anchor="t">
                      <a:noAutofit/>
                    </a:bodyPr>
                    <a:p>
                      <a:pPr marL="457200" indent="-32400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Roboto"/>
                        <a:buChar char="●"/>
                      </a:pPr>
                      <a:r>
                        <a:rPr b="0" lang="ru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   Гипотеза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32400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Roboto"/>
                        <a:buChar char="●"/>
                      </a:pPr>
                      <a:r>
                        <a:rPr b="0" lang="ru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   Целевая аудитория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32400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Roboto"/>
                        <a:buChar char="●"/>
                      </a:pPr>
                      <a:r>
                        <a:rPr b="0" lang="ru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   Ожидаемый результат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marL="457200" indent="-31752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Roboto"/>
                        <a:buChar char="●"/>
                      </a:pPr>
                      <a:r>
                        <a:rPr b="0" lang="ru" sz="17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 </a:t>
                      </a:r>
                      <a:r>
                        <a:rPr b="0" lang="ru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Реализация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32400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Roboto"/>
                        <a:buChar char="●"/>
                      </a:pPr>
                      <a:r>
                        <a:rPr b="0" lang="ru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 Настройки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32400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Roboto"/>
                        <a:buChar char="●"/>
                      </a:pPr>
                      <a:r>
                        <a:rPr b="0" lang="ru" sz="15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 Метрики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7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0400" y="2131920"/>
            <a:ext cx="793440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C9D8E9-1BB9-427B-A8E3-AD318A063F21}" type="slidenum">
              <a: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8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B9D1D9-AD60-47A0-8194-1D42DB6E5636}" type="slidenum">
              <a: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b="0" lang="ru-RU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9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97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0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97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129;p31"/>
          <p:cNvSpPr/>
          <p:nvPr/>
        </p:nvSpPr>
        <p:spPr>
          <a:xfrm>
            <a:off x="606240" y="1441080"/>
            <a:ext cx="7937640" cy="3564000"/>
          </a:xfrm>
          <a:prstGeom prst="rect">
            <a:avLst/>
          </a:prstGeom>
          <a:solidFill>
            <a:srgbClr val="fbfb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_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51600" y="396360"/>
            <a:ext cx="7705080" cy="408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35;p33"/>
          <p:cNvSpPr/>
          <p:nvPr/>
        </p:nvSpPr>
        <p:spPr>
          <a:xfrm>
            <a:off x="590400" y="1365120"/>
            <a:ext cx="7987320" cy="34113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_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40;p34"/>
          <p:cNvSpPr/>
          <p:nvPr/>
        </p:nvSpPr>
        <p:spPr>
          <a:xfrm>
            <a:off x="606240" y="2144160"/>
            <a:ext cx="7937640" cy="2463480"/>
          </a:xfrm>
          <a:prstGeom prst="rect">
            <a:avLst/>
          </a:prstGeom>
          <a:solidFill>
            <a:srgbClr val="fbfb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2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6.png"/><Relationship Id="rId7" Type="http://schemas.openxmlformats.org/officeDocument/2006/relationships/slideLayout" Target="../slideLayouts/slideLayout2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146;p35" descr=""/>
          <p:cNvPicPr/>
          <p:nvPr/>
        </p:nvPicPr>
        <p:blipFill>
          <a:blip r:embed="rId1"/>
          <a:srcRect l="18591" t="0" r="18584" b="0"/>
          <a:stretch/>
        </p:blipFill>
        <p:spPr>
          <a:xfrm>
            <a:off x="-50400" y="-3276360"/>
            <a:ext cx="9407520" cy="835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Google Shape;147;p35"/>
          <p:cNvSpPr/>
          <p:nvPr/>
        </p:nvSpPr>
        <p:spPr>
          <a:xfrm>
            <a:off x="450000" y="1416960"/>
            <a:ext cx="7583400" cy="184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ru" sz="40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Проектирование сетевой фабрики на основе 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ru" sz="40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VxLAN EVPN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Google Shape;148;p35" descr=""/>
          <p:cNvPicPr/>
          <p:nvPr/>
        </p:nvPicPr>
        <p:blipFill>
          <a:blip r:embed="rId2"/>
          <a:stretch/>
        </p:blipFill>
        <p:spPr>
          <a:xfrm>
            <a:off x="7913880" y="268920"/>
            <a:ext cx="821160" cy="28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Google Shape;149;p35"/>
          <p:cNvSpPr/>
          <p:nvPr/>
        </p:nvSpPr>
        <p:spPr>
          <a:xfrm>
            <a:off x="629640" y="4138200"/>
            <a:ext cx="2919600" cy="42552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50;p35"/>
          <p:cNvSpPr/>
          <p:nvPr/>
        </p:nvSpPr>
        <p:spPr>
          <a:xfrm>
            <a:off x="656280" y="4127400"/>
            <a:ext cx="2866680" cy="4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0" lang="ru" sz="1900" strike="noStrike" u="none">
                <a:solidFill>
                  <a:srgbClr val="ffffff"/>
                </a:solidFill>
                <a:effectLst/>
                <a:uFillTx/>
                <a:latin typeface="Roboto Medium"/>
                <a:ea typeface="Roboto Medium"/>
              </a:rPr>
              <a:t>GA-Дизайн сетей ЦОД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51;p35"/>
          <p:cNvSpPr/>
          <p:nvPr/>
        </p:nvSpPr>
        <p:spPr>
          <a:xfrm>
            <a:off x="3756240" y="4138200"/>
            <a:ext cx="1547640" cy="42552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52;p35"/>
          <p:cNvSpPr/>
          <p:nvPr/>
        </p:nvSpPr>
        <p:spPr>
          <a:xfrm>
            <a:off x="3756240" y="4127400"/>
            <a:ext cx="1547640" cy="4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0" lang="ru" sz="1900" strike="noStrike" u="none">
                <a:solidFill>
                  <a:srgbClr val="ffffff"/>
                </a:solidFill>
                <a:effectLst/>
                <a:uFillTx/>
                <a:latin typeface="Roboto Medium"/>
                <a:ea typeface="Roboto Medium"/>
              </a:rPr>
              <a:t>2025-2026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Google Shape;153;p35" descr=""/>
          <p:cNvPicPr/>
          <p:nvPr/>
        </p:nvPicPr>
        <p:blipFill>
          <a:blip r:embed="rId3"/>
          <a:stretch/>
        </p:blipFill>
        <p:spPr>
          <a:xfrm>
            <a:off x="6588720" y="2289960"/>
            <a:ext cx="2511000" cy="2511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44120" y="1345320"/>
            <a:ext cx="7934400" cy="155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4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Меня хорошо видно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4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&amp; слышно?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Google Shape;159;p36" descr=""/>
          <p:cNvPicPr/>
          <p:nvPr/>
        </p:nvPicPr>
        <p:blipFill>
          <a:blip r:embed="rId1"/>
          <a:stretch/>
        </p:blipFill>
        <p:spPr>
          <a:xfrm>
            <a:off x="1544040" y="3841200"/>
            <a:ext cx="544680" cy="54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Google Shape;160;p36" descr=""/>
          <p:cNvPicPr/>
          <p:nvPr/>
        </p:nvPicPr>
        <p:blipFill>
          <a:blip r:embed="rId2"/>
          <a:stretch/>
        </p:blipFill>
        <p:spPr>
          <a:xfrm>
            <a:off x="825480" y="3890880"/>
            <a:ext cx="536040" cy="53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00400" y="313560"/>
            <a:ext cx="8519400" cy="1840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Защита проекта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3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Тема: Проектирование сетевой фабрики на основе VxLAN EVPN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67;p37"/>
          <p:cNvSpPr/>
          <p:nvPr/>
        </p:nvSpPr>
        <p:spPr>
          <a:xfrm>
            <a:off x="3899520" y="2336400"/>
            <a:ext cx="37008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b="1" lang="ru" sz="2300" strike="noStrike" u="none">
                <a:solidFill>
                  <a:srgbClr val="3f299a"/>
                </a:solidFill>
                <a:effectLst/>
                <a:uFillTx/>
                <a:latin typeface="Roboto"/>
                <a:ea typeface="Roboto"/>
              </a:rPr>
              <a:t>Бодров Дмитрий</a:t>
            </a:r>
            <a:endParaRPr b="0" lang="ru-RU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68;p37"/>
          <p:cNvSpPr/>
          <p:nvPr/>
        </p:nvSpPr>
        <p:spPr>
          <a:xfrm>
            <a:off x="3899520" y="2893320"/>
            <a:ext cx="3192120" cy="62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ru" sz="1300" strike="noStrike" u="none">
                <a:solidFill>
                  <a:srgbClr val="000000"/>
                </a:solidFill>
                <a:effectLst/>
                <a:uFillTx/>
                <a:latin typeface="Roboto Medium"/>
                <a:ea typeface="Roboto Medium"/>
              </a:rPr>
              <a:t>АО “Гринатом”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ru" sz="1300" strike="noStrike" u="none">
                <a:solidFill>
                  <a:srgbClr val="000000"/>
                </a:solidFill>
                <a:effectLst/>
                <a:uFillTx/>
                <a:latin typeface="Roboto Medium"/>
                <a:ea typeface="Roboto Medium"/>
              </a:rPr>
              <a:t>Руководитель группы ИТ и ИБ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940680" y="1980000"/>
            <a:ext cx="2478600" cy="2478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175;p 1" descr=""/>
          <p:cNvPicPr/>
          <p:nvPr/>
        </p:nvPicPr>
        <p:blipFill>
          <a:blip r:embed="rId1"/>
          <a:stretch/>
        </p:blipFill>
        <p:spPr>
          <a:xfrm>
            <a:off x="1260000" y="2868480"/>
            <a:ext cx="1293120" cy="593640"/>
          </a:xfrm>
          <a:prstGeom prst="rect">
            <a:avLst/>
          </a:prstGeom>
          <a:noFill/>
          <a:ln w="0">
            <a:noFill/>
          </a:ln>
          <a:effectLst>
            <a:outerShdw algn="bl" blurRad="142920" dir="5400000" dist="28440" rotWithShape="0">
              <a:srgbClr val="000000">
                <a:alpha val="41000"/>
              </a:srgbClr>
            </a:outerShdw>
          </a:effectLst>
        </p:spPr>
      </p:pic>
      <p:pic>
        <p:nvPicPr>
          <p:cNvPr id="97" name="Google Shape;173;p38" descr=""/>
          <p:cNvPicPr/>
          <p:nvPr/>
        </p:nvPicPr>
        <p:blipFill>
          <a:blip r:embed="rId2"/>
          <a:stretch/>
        </p:blipFill>
        <p:spPr>
          <a:xfrm>
            <a:off x="1260000" y="811080"/>
            <a:ext cx="1293120" cy="593640"/>
          </a:xfrm>
          <a:prstGeom prst="rect">
            <a:avLst/>
          </a:prstGeom>
          <a:noFill/>
          <a:ln w="0">
            <a:noFill/>
          </a:ln>
          <a:effectLst>
            <a:outerShdw algn="bl" blurRad="142920" dir="5400000" dist="28440" rotWithShape="0">
              <a:srgbClr val="000000">
                <a:alpha val="41000"/>
              </a:srgbClr>
            </a:outerShdw>
          </a:effectLst>
        </p:spPr>
      </p:pic>
      <p:pic>
        <p:nvPicPr>
          <p:cNvPr id="98" name="Google Shape;174;p38" descr=""/>
          <p:cNvPicPr/>
          <p:nvPr/>
        </p:nvPicPr>
        <p:blipFill>
          <a:blip r:embed="rId3"/>
          <a:stretch/>
        </p:blipFill>
        <p:spPr>
          <a:xfrm>
            <a:off x="1260000" y="1524240"/>
            <a:ext cx="1293120" cy="593640"/>
          </a:xfrm>
          <a:prstGeom prst="rect">
            <a:avLst/>
          </a:prstGeom>
          <a:noFill/>
          <a:ln w="0">
            <a:noFill/>
          </a:ln>
          <a:effectLst>
            <a:outerShdw algn="bl" blurRad="142920" dir="5400000" dist="28440" rotWithShape="0">
              <a:srgbClr val="000000">
                <a:alpha val="41000"/>
              </a:srgbClr>
            </a:outerShdw>
          </a:effectLst>
        </p:spPr>
      </p:pic>
      <p:pic>
        <p:nvPicPr>
          <p:cNvPr id="99" name="Google Shape;175;p38" descr=""/>
          <p:cNvPicPr/>
          <p:nvPr/>
        </p:nvPicPr>
        <p:blipFill>
          <a:blip r:embed="rId4"/>
          <a:stretch/>
        </p:blipFill>
        <p:spPr>
          <a:xfrm>
            <a:off x="1260000" y="2200320"/>
            <a:ext cx="1293120" cy="593640"/>
          </a:xfrm>
          <a:prstGeom prst="rect">
            <a:avLst/>
          </a:prstGeom>
          <a:noFill/>
          <a:ln w="0">
            <a:noFill/>
          </a:ln>
          <a:effectLst>
            <a:outerShdw algn="bl" blurRad="142920" dir="5400000" dist="28440" rotWithShape="0">
              <a:srgbClr val="000000">
                <a:alpha val="41000"/>
              </a:srgbClr>
            </a:outerShdw>
          </a:effectLst>
        </p:spPr>
      </p:pic>
      <p:pic>
        <p:nvPicPr>
          <p:cNvPr id="100" name="Google Shape;176;p38" descr=""/>
          <p:cNvPicPr/>
          <p:nvPr/>
        </p:nvPicPr>
        <p:blipFill>
          <a:blip r:embed="rId5"/>
          <a:stretch/>
        </p:blipFill>
        <p:spPr>
          <a:xfrm>
            <a:off x="1226160" y="3545640"/>
            <a:ext cx="1293120" cy="593640"/>
          </a:xfrm>
          <a:prstGeom prst="rect">
            <a:avLst/>
          </a:prstGeom>
          <a:noFill/>
          <a:ln w="0">
            <a:noFill/>
          </a:ln>
          <a:effectLst>
            <a:outerShdw algn="bl" blurRad="142920" dir="5400000" dist="28440" rotWithShape="0">
              <a:srgbClr val="000000">
                <a:alpha val="41000"/>
              </a:srgbClr>
            </a:outerShdw>
          </a:effectLst>
        </p:spPr>
      </p:pic>
      <p:pic>
        <p:nvPicPr>
          <p:cNvPr id="101" name="Google Shape;177;p38" descr=""/>
          <p:cNvPicPr/>
          <p:nvPr/>
        </p:nvPicPr>
        <p:blipFill>
          <a:blip r:embed="rId6"/>
          <a:stretch/>
        </p:blipFill>
        <p:spPr>
          <a:xfrm>
            <a:off x="1260000" y="4265640"/>
            <a:ext cx="1293120" cy="593640"/>
          </a:xfrm>
          <a:prstGeom prst="rect">
            <a:avLst/>
          </a:prstGeom>
          <a:noFill/>
          <a:ln w="0">
            <a:noFill/>
          </a:ln>
          <a:effectLst>
            <a:outerShdw algn="bl" blurRad="142920" dir="5400000" dist="28440" rotWithShape="0">
              <a:srgbClr val="000000">
                <a:alpha val="41000"/>
              </a:srgbClr>
            </a:outerShdw>
          </a:effectLst>
        </p:spPr>
      </p:pic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40000" y="164520"/>
            <a:ext cx="7491960" cy="109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1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План защиты</a:t>
            </a:r>
            <a:endParaRPr b="0" lang="ru-RU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79;p38"/>
          <p:cNvSpPr/>
          <p:nvPr/>
        </p:nvSpPr>
        <p:spPr>
          <a:xfrm>
            <a:off x="1488240" y="900720"/>
            <a:ext cx="8362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400" strike="noStrike" u="none">
                <a:solidFill>
                  <a:schemeClr val="lt2"/>
                </a:solidFill>
                <a:effectLst/>
                <a:uFillTx/>
                <a:latin typeface="Roboto"/>
                <a:ea typeface="Roboto"/>
              </a:rPr>
              <a:t>Этап 1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80;p38"/>
          <p:cNvSpPr/>
          <p:nvPr/>
        </p:nvSpPr>
        <p:spPr>
          <a:xfrm>
            <a:off x="1488240" y="1613880"/>
            <a:ext cx="8362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400" strike="noStrike" u="none">
                <a:solidFill>
                  <a:schemeClr val="lt2"/>
                </a:solidFill>
                <a:effectLst/>
                <a:uFillTx/>
                <a:latin typeface="Roboto"/>
                <a:ea typeface="Roboto"/>
              </a:rPr>
              <a:t>Этап 2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81;p38"/>
          <p:cNvSpPr/>
          <p:nvPr/>
        </p:nvSpPr>
        <p:spPr>
          <a:xfrm>
            <a:off x="1488240" y="2289960"/>
            <a:ext cx="8362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400" strike="noStrike" u="none">
                <a:solidFill>
                  <a:schemeClr val="lt2"/>
                </a:solidFill>
                <a:effectLst/>
                <a:uFillTx/>
                <a:latin typeface="Roboto"/>
                <a:ea typeface="Roboto"/>
              </a:rPr>
              <a:t>Этап 3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82;p38"/>
          <p:cNvSpPr/>
          <p:nvPr/>
        </p:nvSpPr>
        <p:spPr>
          <a:xfrm>
            <a:off x="1488240" y="2958120"/>
            <a:ext cx="83628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400" strike="noStrike" u="none">
                <a:solidFill>
                  <a:schemeClr val="lt2"/>
                </a:solidFill>
                <a:effectLst/>
                <a:uFillTx/>
                <a:latin typeface="Roboto"/>
                <a:ea typeface="Roboto"/>
              </a:rPr>
              <a:t>Этап 4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83;p38"/>
          <p:cNvSpPr/>
          <p:nvPr/>
        </p:nvSpPr>
        <p:spPr>
          <a:xfrm>
            <a:off x="1503000" y="4320000"/>
            <a:ext cx="83628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400" strike="noStrike" u="none">
                <a:solidFill>
                  <a:schemeClr val="lt2"/>
                </a:solidFill>
                <a:effectLst/>
                <a:uFillTx/>
                <a:latin typeface="Roboto"/>
                <a:ea typeface="Roboto"/>
              </a:rPr>
              <a:t>Этап 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8" name="Google Shape;184;p38"/>
          <p:cNvGraphicFramePr/>
          <p:nvPr/>
        </p:nvGraphicFramePr>
        <p:xfrm>
          <a:off x="2710440" y="793800"/>
          <a:ext cx="5493600" cy="629280"/>
        </p:xfrm>
        <a:graphic>
          <a:graphicData uri="http://schemas.openxmlformats.org/drawingml/2006/table">
            <a:tbl>
              <a:tblPr/>
              <a:tblGrid>
                <a:gridCol w="5493960"/>
              </a:tblGrid>
              <a:tr h="629280">
                <a:tc>
                  <a:txBody>
                    <a:bodyPr lIns="91080" r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Цель и задачи проекта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9" name="Google Shape;185;p38"/>
          <p:cNvGraphicFramePr/>
          <p:nvPr/>
        </p:nvGraphicFramePr>
        <p:xfrm>
          <a:off x="2710440" y="1506960"/>
          <a:ext cx="5493600" cy="629280"/>
        </p:xfrm>
        <a:graphic>
          <a:graphicData uri="http://schemas.openxmlformats.org/drawingml/2006/table">
            <a:tbl>
              <a:tblPr/>
              <a:tblGrid>
                <a:gridCol w="5493960"/>
              </a:tblGrid>
              <a:tr h="629280">
                <a:tc>
                  <a:txBody>
                    <a:bodyPr lIns="91080" r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Используемые технологии и оборудование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0" name="Google Shape;186;p38"/>
          <p:cNvGraphicFramePr/>
          <p:nvPr/>
        </p:nvGraphicFramePr>
        <p:xfrm>
          <a:off x="2710440" y="2187720"/>
          <a:ext cx="5493600" cy="629280"/>
        </p:xfrm>
        <a:graphic>
          <a:graphicData uri="http://schemas.openxmlformats.org/drawingml/2006/table">
            <a:tbl>
              <a:tblPr/>
              <a:tblGrid>
                <a:gridCol w="5493960"/>
              </a:tblGrid>
              <a:tr h="629280">
                <a:tc>
                  <a:txBody>
                    <a:bodyPr lIns="91080" r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Что получилось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1" name="Google Shape;187;p38"/>
          <p:cNvGraphicFramePr/>
          <p:nvPr/>
        </p:nvGraphicFramePr>
        <p:xfrm>
          <a:off x="2710440" y="3516480"/>
          <a:ext cx="5493600" cy="629280"/>
        </p:xfrm>
        <a:graphic>
          <a:graphicData uri="http://schemas.openxmlformats.org/drawingml/2006/table">
            <a:tbl>
              <a:tblPr/>
              <a:tblGrid>
                <a:gridCol w="5493960"/>
              </a:tblGrid>
              <a:tr h="629280">
                <a:tc>
                  <a:txBody>
                    <a:bodyPr lIns="91080" r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Выводы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2" name="Google Shape;188;p38"/>
          <p:cNvGraphicFramePr/>
          <p:nvPr/>
        </p:nvGraphicFramePr>
        <p:xfrm>
          <a:off x="2694240" y="4228560"/>
          <a:ext cx="5493600" cy="629280"/>
        </p:xfrm>
        <a:graphic>
          <a:graphicData uri="http://schemas.openxmlformats.org/drawingml/2006/table">
            <a:tbl>
              <a:tblPr/>
              <a:tblGrid>
                <a:gridCol w="5493960"/>
              </a:tblGrid>
              <a:tr h="629280">
                <a:tc>
                  <a:txBody>
                    <a:bodyPr lIns="91080" r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Вопросы и рекомендации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3" name="Google Shape;182;p 1"/>
          <p:cNvSpPr/>
          <p:nvPr/>
        </p:nvSpPr>
        <p:spPr>
          <a:xfrm>
            <a:off x="1503000" y="3600000"/>
            <a:ext cx="83628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400" strike="noStrike" u="none">
                <a:solidFill>
                  <a:schemeClr val="lt2"/>
                </a:solidFill>
                <a:effectLst/>
                <a:uFillTx/>
                <a:latin typeface="Roboto"/>
                <a:ea typeface="Roboto"/>
              </a:rPr>
              <a:t>Этап 5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4" name="Google Shape;186;p 1"/>
          <p:cNvGraphicFramePr/>
          <p:nvPr/>
        </p:nvGraphicFramePr>
        <p:xfrm>
          <a:off x="2706840" y="2833920"/>
          <a:ext cx="5493600" cy="629280"/>
        </p:xfrm>
        <a:graphic>
          <a:graphicData uri="http://schemas.openxmlformats.org/drawingml/2006/table">
            <a:tbl>
              <a:tblPr/>
              <a:tblGrid>
                <a:gridCol w="5493960"/>
              </a:tblGrid>
              <a:tr h="629280">
                <a:tc>
                  <a:txBody>
                    <a:bodyPr lIns="91080" r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Что не получилось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93;p39"/>
          <p:cNvSpPr/>
          <p:nvPr/>
        </p:nvSpPr>
        <p:spPr>
          <a:xfrm>
            <a:off x="560520" y="324720"/>
            <a:ext cx="8519400" cy="130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300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Цель и задачи проекта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6" name="Google Shape;194;p39"/>
          <p:cNvGraphicFramePr/>
          <p:nvPr/>
        </p:nvGraphicFramePr>
        <p:xfrm>
          <a:off x="1022040" y="1998360"/>
          <a:ext cx="7238160" cy="3329640"/>
        </p:xfrm>
        <a:graphic>
          <a:graphicData uri="http://schemas.openxmlformats.org/drawingml/2006/table">
            <a:tbl>
              <a:tblPr/>
              <a:tblGrid>
                <a:gridCol w="325080"/>
                <a:gridCol w="6913440"/>
              </a:tblGrid>
              <a:tr h="1037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boto Medium"/>
                          <a:ea typeface="Roboto Medium"/>
                        </a:rPr>
                        <a:t>           При выполнении работ учесть: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1. </a:t>
                      </a:r>
                      <a:r>
                        <a:rPr b="0" lang="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Количество стоек в новом серверном помещении;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46764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2. </a:t>
                      </a:r>
                      <a:r>
                        <a:rPr b="0" lang="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Существующие зоны безопасности;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1037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3. </a:t>
                      </a:r>
                      <a:r>
                        <a:rPr b="0" lang="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Уже используемое сетевое оборудование;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4. </a:t>
                      </a:r>
                      <a:r>
                        <a:rPr b="0" lang="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Заложить возможность тиражирования;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4384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7" name="Google Shape;195;p39"/>
          <p:cNvSpPr/>
          <p:nvPr/>
        </p:nvSpPr>
        <p:spPr>
          <a:xfrm>
            <a:off x="986400" y="1030320"/>
            <a:ext cx="7237800" cy="934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rIns="162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500" strike="noStrike" u="non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Цель проекта: спроектировать сетевую фабрику для нового серверного помещения ЦОД, с учетом особенностей существующей сетевой инфраструктуры. 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Используемые технологии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9" name="Google Shape;201;p40"/>
          <p:cNvGraphicFramePr/>
          <p:nvPr/>
        </p:nvGraphicFramePr>
        <p:xfrm>
          <a:off x="893160" y="1338480"/>
          <a:ext cx="7238160" cy="2952360"/>
        </p:xfrm>
        <a:graphic>
          <a:graphicData uri="http://schemas.openxmlformats.org/drawingml/2006/table">
            <a:tbl>
              <a:tblPr/>
              <a:tblGrid>
                <a:gridCol w="325080"/>
                <a:gridCol w="6913440"/>
              </a:tblGrid>
              <a:tr h="380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1. </a:t>
                      </a:r>
                      <a:r>
                        <a:rPr b="0" lang="ru" sz="16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Underlay (OSPF);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2. </a:t>
                      </a:r>
                      <a:r>
                        <a:rPr b="0" lang="ru" sz="16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VxLAN (L2 VNI, L3 VNI);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3. </a:t>
                      </a:r>
                      <a:r>
                        <a:rPr b="0" lang="ru" sz="16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Multihoming (VxLAN ESI-LAG);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4. </a:t>
                      </a:r>
                      <a:r>
                        <a:rPr b="0" lang="ru" sz="16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BFD;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5. </a:t>
                      </a:r>
                      <a:r>
                        <a:rPr b="0" lang="ru" sz="16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VRF;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6. </a:t>
                      </a:r>
                      <a:r>
                        <a:rPr b="0" lang="ru" sz="16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IPsec;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Используемое оборудование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1" name="Google Shape;207;p41"/>
          <p:cNvGraphicFramePr/>
          <p:nvPr/>
        </p:nvGraphicFramePr>
        <p:xfrm>
          <a:off x="712800" y="1378080"/>
          <a:ext cx="7238160" cy="2577600"/>
        </p:xfrm>
        <a:graphic>
          <a:graphicData uri="http://schemas.openxmlformats.org/drawingml/2006/table">
            <a:tbl>
              <a:tblPr/>
              <a:tblGrid>
                <a:gridCol w="489240"/>
                <a:gridCol w="6749280"/>
              </a:tblGrid>
              <a:tr h="380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1. </a:t>
                      </a:r>
                      <a:r>
                        <a:rPr b="0" lang="ru" sz="16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Arista vEOS в качестве leaf/spine коммутаторов;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2. </a:t>
                      </a:r>
                      <a:r>
                        <a:rPr b="0" lang="ru" sz="16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Континент 4 NGFW в качестве firewall между vrf;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3. </a:t>
                      </a:r>
                      <a:r>
                        <a:rPr b="0" lang="ru" sz="16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Astra Linux в качестве клиента;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4. </a:t>
                      </a:r>
                      <a:r>
                        <a:rPr b="0" lang="ru" sz="16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Windows Server в качестве клиента;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228960" y="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Что получилось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3" name="Google Shape;213;p42"/>
          <p:cNvGraphicFramePr/>
          <p:nvPr/>
        </p:nvGraphicFramePr>
        <p:xfrm>
          <a:off x="749160" y="606600"/>
          <a:ext cx="7238160" cy="5371920"/>
        </p:xfrm>
        <a:graphic>
          <a:graphicData uri="http://schemas.openxmlformats.org/drawingml/2006/table">
            <a:tbl>
              <a:tblPr/>
              <a:tblGrid>
                <a:gridCol w="325080"/>
                <a:gridCol w="6913440"/>
              </a:tblGrid>
              <a:tr h="59292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1. </a:t>
                      </a: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Спроектировать адресное пространство и архитектуру с учетом: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31752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Roboto"/>
                        <a:buChar char="-"/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Количества стоек в новом серверном помещении;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3175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Roboto"/>
                        <a:buChar char="-"/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Заложить возможностью тиражирования;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19450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Вводные: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Текущее количество стоек: 18, возможно расширение серверного помещения до 100стоек. Высота стоек 48U;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Полезная емкость стойки: 36U. За вычетом технических юнитов (БП, патч-панели, КРОСС, технические отступы);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Leaf коммутаторы 48 портов;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Решение: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Количество Leaf-коммутаторов = 2*18(стоек) = </a:t>
                      </a:r>
                      <a:r>
                        <a:rPr b="1" lang="ru" sz="14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36</a:t>
                      </a:r>
                      <a:r>
                        <a:rPr b="0" lang="ru" sz="14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;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Максимальное количество серверов в стойке = 36(U) - 2(U) = </a:t>
                      </a:r>
                      <a:r>
                        <a:rPr b="1" lang="ru" sz="14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34</a:t>
                      </a:r>
                      <a:r>
                        <a:rPr b="0" lang="ru" sz="14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;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Максимальное количество Spine = 48(портов) - 34(серверов) = </a:t>
                      </a:r>
                      <a:r>
                        <a:rPr b="1" lang="ru" sz="14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14</a:t>
                      </a:r>
                      <a:r>
                        <a:rPr b="0" lang="ru" sz="14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;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Максимальное количество серверов = 34*18 = </a:t>
                      </a:r>
                      <a:r>
                        <a:rPr b="1" lang="ru" sz="14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612</a:t>
                      </a:r>
                      <a:r>
                        <a:rPr b="0" lang="ru" sz="14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;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Подсеть leaf: 2 * 100 = 200. Нужна маска </a:t>
                      </a:r>
                      <a:r>
                        <a:rPr b="1" lang="ru" sz="14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/23</a:t>
                      </a:r>
                      <a:r>
                        <a:rPr b="0" lang="ru" sz="14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Roboto"/>
                          <a:ea typeface="Roboto"/>
                        </a:rPr>
                        <a:t>.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46512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63396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29592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" descr=""/>
          <p:cNvPicPr/>
          <p:nvPr/>
        </p:nvPicPr>
        <p:blipFill>
          <a:blip r:embed="rId1"/>
          <a:stretch/>
        </p:blipFill>
        <p:spPr>
          <a:xfrm>
            <a:off x="0" y="783720"/>
            <a:ext cx="9142920" cy="425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228960" y="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Что получилось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1122840" y="434160"/>
            <a:ext cx="283644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" sz="16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2. </a:t>
            </a:r>
            <a:r>
              <a:rPr b="0" lang="ru" sz="14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Собрать тестовый стенд: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" descr=""/>
          <p:cNvPicPr/>
          <p:nvPr/>
        </p:nvPicPr>
        <p:blipFill>
          <a:blip r:embed="rId2"/>
          <a:stretch/>
        </p:blipFill>
        <p:spPr>
          <a:xfrm>
            <a:off x="8784000" y="4770000"/>
            <a:ext cx="222480" cy="23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228960" y="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Что получилось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9" name="Google Shape;226;p44"/>
          <p:cNvGraphicFramePr/>
          <p:nvPr/>
        </p:nvGraphicFramePr>
        <p:xfrm>
          <a:off x="376920" y="621360"/>
          <a:ext cx="7238160" cy="7961400"/>
        </p:xfrm>
        <a:graphic>
          <a:graphicData uri="http://schemas.openxmlformats.org/drawingml/2006/table">
            <a:tbl>
              <a:tblPr/>
              <a:tblGrid>
                <a:gridCol w="325080"/>
                <a:gridCol w="6913440"/>
              </a:tblGrid>
              <a:tr h="59292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3. </a:t>
                      </a:r>
                      <a:r>
                        <a:rPr b="0" lang="ru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Настроить underlay на Arista с использованием OSPF;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4. </a:t>
                      </a:r>
                      <a:r>
                        <a:rPr b="0" lang="ru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Настроить VxLAN l2VNI и L3VNI;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5. </a:t>
                      </a:r>
                      <a:r>
                        <a:rPr b="0" lang="ru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Настроить VxLAN Multihoming (ESI-LAG);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6. </a:t>
                      </a:r>
                      <a:r>
                        <a:rPr b="0" lang="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Создать несколько vrf (зоны безопасности: infra, sec, mgmt, adm);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7. </a:t>
                      </a:r>
                      <a:r>
                        <a:rPr b="0" lang="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Настроить bgp peering между каждым vrf и Континент 4 NGFW;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8. </a:t>
                      </a:r>
                      <a:r>
                        <a:rPr b="0" lang="ru" sz="16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Arial"/>
                          <a:ea typeface="Roboto"/>
                        </a:rPr>
                        <a:t>Настроить редистрибьюцию статических маршрутов на К4;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9. </a:t>
                      </a:r>
                      <a:r>
                        <a:rPr b="0" lang="ru" sz="16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Arial"/>
                          <a:ea typeface="Roboto"/>
                        </a:rPr>
                        <a:t>Настроить IPsec на К4;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10. </a:t>
                      </a:r>
                      <a:r>
                        <a:rPr b="0" lang="ru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Протестировать отказоустойчивость архитектуры;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19450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46512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63396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29592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228960" y="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rgbClr val="c9211e"/>
                </a:solidFill>
                <a:effectLst/>
                <a:uFillTx/>
                <a:latin typeface="Roboto"/>
                <a:ea typeface="Roboto"/>
              </a:rPr>
              <a:t>Что не получилось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Google Shape;226;p 1"/>
          <p:cNvGraphicFramePr/>
          <p:nvPr/>
        </p:nvGraphicFramePr>
        <p:xfrm>
          <a:off x="376920" y="621360"/>
          <a:ext cx="7238160" cy="7455960"/>
        </p:xfrm>
        <a:graphic>
          <a:graphicData uri="http://schemas.openxmlformats.org/drawingml/2006/table">
            <a:tbl>
              <a:tblPr/>
              <a:tblGrid>
                <a:gridCol w="325080"/>
                <a:gridCol w="6913440"/>
              </a:tblGrid>
              <a:tr h="59292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1. </a:t>
                      </a:r>
                      <a:r>
                        <a:rPr b="0" lang="ru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Настроить NGFW Континент 4 в качестве Spine;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       - в продукте используется birdc версии 2.13;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       - поддержка evpn vxlan добавлена начиная с версии 2.14;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       - будем ждать новых релизов ...;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       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2. </a:t>
                      </a:r>
                      <a:r>
                        <a:rPr b="0" lang="ru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Настройка bfd для IPSEC на NGFW Континент 4;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       - не удалось глубоко изучить вопрос, скорее всего есть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         техническая проблема, которую нужно решать с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         техподдержкой продукта;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19450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46512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63396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29592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228960" y="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" sz="30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Выводы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3" name="Google Shape;226;p 2"/>
          <p:cNvGraphicFramePr/>
          <p:nvPr/>
        </p:nvGraphicFramePr>
        <p:xfrm>
          <a:off x="376920" y="621360"/>
          <a:ext cx="8297280" cy="7455960"/>
        </p:xfrm>
        <a:graphic>
          <a:graphicData uri="http://schemas.openxmlformats.org/drawingml/2006/table">
            <a:tbl>
              <a:tblPr/>
              <a:tblGrid>
                <a:gridCol w="325080"/>
                <a:gridCol w="7972560"/>
              </a:tblGrid>
              <a:tr h="59292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1. </a:t>
                      </a:r>
                      <a:r>
                        <a:rPr b="0" lang="ru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Мне удалось достичь ключевой цели – спроектировать сетевую фабрику 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2. </a:t>
                      </a:r>
                      <a:r>
                        <a:rPr b="0" lang="ru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Все технологии были разобраны на курсе, сложности возникли только с                настройками Континент 4 NGFW;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3. </a:t>
                      </a:r>
                      <a:r>
                        <a:rPr b="0" lang="ru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Общее время выполнения проекта – 20 часов;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4. </a:t>
                      </a:r>
                      <a:r>
                        <a:rPr b="0" lang="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Проект оказался очень полезным (10 баллов), как в части закрепления                  материалов курса, так и в качестве тестирования работы Континент 4;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5. </a:t>
                      </a:r>
                      <a:r>
                        <a:rPr b="0" lang="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Кажется, что нет, возможно, когда будет больше свободного времени,                    повторно ознакомлюсь с теорией для закрепления материала;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600" strike="noStrike" u="non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6. </a:t>
                      </a:r>
                      <a:r>
                        <a:rPr b="0" lang="ru" sz="1600" strike="noStrike" u="none">
                          <a:solidFill>
                            <a:srgbClr val="0f1115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Arial"/>
                          <a:ea typeface="Roboto"/>
                        </a:rPr>
                        <a:t>Надеюсь переложить полученные знания на реальную продуктовую задачу          по внедрению технологии CLOS в свою инфраструктуру;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194508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46512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63396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295920"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46;p 1" descr=""/>
          <p:cNvPicPr/>
          <p:nvPr/>
        </p:nvPicPr>
        <p:blipFill>
          <a:blip r:embed="rId1"/>
          <a:srcRect l="18591" t="0" r="18584" b="0"/>
          <a:stretch/>
        </p:blipFill>
        <p:spPr>
          <a:xfrm>
            <a:off x="-50400" y="-3276360"/>
            <a:ext cx="9407520" cy="835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Google Shape;149;p 1"/>
          <p:cNvSpPr/>
          <p:nvPr/>
        </p:nvSpPr>
        <p:spPr>
          <a:xfrm>
            <a:off x="3600000" y="2880000"/>
            <a:ext cx="2919600" cy="42552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147;p 1"/>
          <p:cNvSpPr/>
          <p:nvPr/>
        </p:nvSpPr>
        <p:spPr>
          <a:xfrm>
            <a:off x="450000" y="1416960"/>
            <a:ext cx="75834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ru" sz="40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Вопросы и рекомендации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Google Shape;148;p 1" descr=""/>
          <p:cNvPicPr/>
          <p:nvPr/>
        </p:nvPicPr>
        <p:blipFill>
          <a:blip r:embed="rId2"/>
          <a:stretch/>
        </p:blipFill>
        <p:spPr>
          <a:xfrm>
            <a:off x="7913880" y="268920"/>
            <a:ext cx="821160" cy="28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Google Shape;150;p 1"/>
          <p:cNvSpPr/>
          <p:nvPr/>
        </p:nvSpPr>
        <p:spPr>
          <a:xfrm>
            <a:off x="499680" y="2880000"/>
            <a:ext cx="2866680" cy="44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0" lang="ru" sz="1900" strike="noStrike" u="none">
                <a:solidFill>
                  <a:srgbClr val="ffffff"/>
                </a:solidFill>
                <a:effectLst/>
                <a:uFillTx/>
                <a:latin typeface="Roboto Medium"/>
                <a:ea typeface="Roboto Medium"/>
              </a:rPr>
              <a:t>+ Если есть вопросы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9" name="Google Shape;153;p 2" descr=""/>
          <p:cNvPicPr/>
          <p:nvPr/>
        </p:nvPicPr>
        <p:blipFill>
          <a:blip r:embed="rId3"/>
          <a:stretch/>
        </p:blipFill>
        <p:spPr>
          <a:xfrm>
            <a:off x="6588720" y="2289960"/>
            <a:ext cx="2511000" cy="251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Google Shape;150;p 2"/>
          <p:cNvSpPr/>
          <p:nvPr/>
        </p:nvSpPr>
        <p:spPr>
          <a:xfrm>
            <a:off x="499680" y="2880000"/>
            <a:ext cx="2866680" cy="44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0" lang="ru" sz="1900" strike="noStrike" u="none">
                <a:solidFill>
                  <a:srgbClr val="ffffff"/>
                </a:solidFill>
                <a:effectLst/>
                <a:uFillTx/>
                <a:latin typeface="Roboto Medium"/>
                <a:ea typeface="Roboto Medium"/>
              </a:rPr>
              <a:t>+ Если есть вопросы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150;p 5"/>
          <p:cNvSpPr/>
          <p:nvPr/>
        </p:nvSpPr>
        <p:spPr>
          <a:xfrm>
            <a:off x="3976920" y="2844000"/>
            <a:ext cx="2866680" cy="44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0" lang="ru" sz="1900" strike="noStrike" u="none">
                <a:solidFill>
                  <a:srgbClr val="ffffff"/>
                </a:solidFill>
                <a:effectLst/>
                <a:uFillTx/>
                <a:latin typeface="Roboto Medium"/>
                <a:ea typeface="Roboto Medium"/>
              </a:rPr>
              <a:t>Если вопросов нет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149;p 2"/>
          <p:cNvSpPr/>
          <p:nvPr/>
        </p:nvSpPr>
        <p:spPr>
          <a:xfrm>
            <a:off x="540000" y="2880000"/>
            <a:ext cx="2919600" cy="42552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150;p 3"/>
          <p:cNvSpPr/>
          <p:nvPr/>
        </p:nvSpPr>
        <p:spPr>
          <a:xfrm>
            <a:off x="895680" y="2844000"/>
            <a:ext cx="2866680" cy="44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0" lang="ru" sz="1900" strike="noStrike" u="none">
                <a:solidFill>
                  <a:srgbClr val="ffffff"/>
                </a:solidFill>
                <a:effectLst/>
                <a:uFillTx/>
                <a:latin typeface="Roboto Medium"/>
                <a:ea typeface="Roboto Medium"/>
              </a:rPr>
              <a:t>Если есть вопросы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720000" y="2697480"/>
            <a:ext cx="637200" cy="72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" sz="43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+</a:t>
            </a:r>
            <a:endParaRPr b="0" lang="ru-RU" sz="4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3872880" y="2697480"/>
            <a:ext cx="626400" cy="72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" sz="43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– </a:t>
            </a:r>
            <a:endParaRPr b="0" lang="ru-RU" sz="4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2026-03-06T03:42:19Z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