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2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media/image1.png" ContentType="image/png"/>
  <Override PartName="/ppt/media/image2.jpeg" ContentType="image/jpeg"/>
  <Override PartName="/ppt/media/image8.png" ContentType="image/png"/>
  <Override PartName="/ppt/media/image3.jpeg" ContentType="image/jpeg"/>
  <Override PartName="/ppt/media/image5.png" ContentType="image/png"/>
  <Override PartName="/ppt/media/image4.png" ContentType="image/png"/>
  <Override PartName="/ppt/media/image6.png" ContentType="image/png"/>
  <Override PartName="/ppt/media/image7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3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5.xml"/><Relationship Id="rId4" Type="http://schemas.openxmlformats.org/officeDocument/2006/relationships/slideMaster" Target="slideMasters/slideMaster2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jpe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.png"/><Relationship Id="rId3" Type="http://schemas.openxmlformats.org/officeDocument/2006/relationships/image" Target="../media/image4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.png"/><Relationship Id="rId3" Type="http://schemas.openxmlformats.org/officeDocument/2006/relationships/image" Target="../media/image9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1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1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1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1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1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1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0183987-CBFD-4319-AF2B-8E5E028071FC}" type="slidenum">
              <a: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b="0" lang="ru-RU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3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Google Shape;49;p12"/>
          <p:cNvSpPr/>
          <p:nvPr/>
        </p:nvSpPr>
        <p:spPr>
          <a:xfrm>
            <a:off x="590400" y="1365120"/>
            <a:ext cx="7988040" cy="3412080"/>
          </a:xfrm>
          <a:prstGeom prst="rect">
            <a:avLst/>
          </a:prstGeom>
          <a:solidFill>
            <a:srgbClr val="fbfb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_1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Google Shape;53;p13"/>
          <p:cNvSpPr/>
          <p:nvPr/>
        </p:nvSpPr>
        <p:spPr>
          <a:xfrm>
            <a:off x="590400" y="1365120"/>
            <a:ext cx="7988040" cy="341208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4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Google Shape;58;p14"/>
          <p:cNvSpPr/>
          <p:nvPr/>
        </p:nvSpPr>
        <p:spPr>
          <a:xfrm>
            <a:off x="606240" y="2144160"/>
            <a:ext cx="7938360" cy="2464200"/>
          </a:xfrm>
          <a:prstGeom prst="rect">
            <a:avLst/>
          </a:prstGeom>
          <a:solidFill>
            <a:srgbClr val="fbfb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4_1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Google Shape;62;p15"/>
          <p:cNvSpPr/>
          <p:nvPr/>
        </p:nvSpPr>
        <p:spPr>
          <a:xfrm>
            <a:off x="362160" y="1384200"/>
            <a:ext cx="4748400" cy="3393000"/>
          </a:xfrm>
          <a:prstGeom prst="rect">
            <a:avLst/>
          </a:prstGeom>
          <a:solidFill>
            <a:srgbClr val="fbfb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0;p2" descr=""/>
          <p:cNvPicPr/>
          <p:nvPr/>
        </p:nvPicPr>
        <p:blipFill>
          <a:blip r:embed="rId3"/>
          <a:srcRect l="98" t="0" r="98" b="0"/>
          <a:stretch/>
        </p:blipFill>
        <p:spPr>
          <a:xfrm>
            <a:off x="-18000" y="-10080"/>
            <a:ext cx="9194400" cy="518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44640" y="1769040"/>
            <a:ext cx="7379280" cy="237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5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5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0400" y="1784880"/>
            <a:ext cx="7935120" cy="114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buNone/>
            </a:pPr>
            <a:r>
              <a:rPr b="0" lang="ru-RU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994375-3728-47A4-824A-F71CD55E49D8}" type="slidenum">
              <a: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b="0" lang="ru-RU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5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500400" y="142632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05A40F-16F9-47B3-9040-841162A2FF3B}" type="slidenum">
              <a: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b="0" lang="ru-RU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95ED4A-BB29-4D12-AD66-223A59230EDD}" type="slidenum">
              <a: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b="0" lang="ru-RU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title"/>
          </p:nvPr>
        </p:nvSpPr>
        <p:spPr>
          <a:xfrm>
            <a:off x="500400" y="821160"/>
            <a:ext cx="8520120" cy="198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84595B-F4EB-4310-AA5F-213F69AD76B2}" type="slidenum">
              <a: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b="0" lang="ru-RU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" name="Google Shape;31;p7" descr=""/>
          <p:cNvPicPr/>
          <p:nvPr/>
        </p:nvPicPr>
        <p:blipFill>
          <a:blip r:embed="rId3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PlaceHolder 2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5800" cy="40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buNone/>
            </a:pPr>
            <a:r>
              <a:rPr b="0" lang="ru-RU" sz="4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38;p9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rgbClr val="f3f3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120" y="1220760"/>
            <a:ext cx="4044960" cy="148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8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88168A-86D2-43C4-917B-477A317BF38C}" type="slidenum">
              <a: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b="0" lang="ru-RU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mple-light-2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7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Google Shape;110;p26"/>
          <p:cNvSpPr/>
          <p:nvPr/>
        </p:nvSpPr>
        <p:spPr>
          <a:xfrm>
            <a:off x="932760" y="1748160"/>
            <a:ext cx="2127600" cy="292932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Google Shape;111;p26"/>
          <p:cNvSpPr/>
          <p:nvPr/>
        </p:nvSpPr>
        <p:spPr>
          <a:xfrm>
            <a:off x="3436560" y="1748160"/>
            <a:ext cx="2127600" cy="292932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112;p26"/>
          <p:cNvSpPr/>
          <p:nvPr/>
        </p:nvSpPr>
        <p:spPr>
          <a:xfrm>
            <a:off x="5940000" y="1748160"/>
            <a:ext cx="2127600" cy="292932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113;p26"/>
          <p:cNvSpPr/>
          <p:nvPr/>
        </p:nvSpPr>
        <p:spPr>
          <a:xfrm>
            <a:off x="1073520" y="2075040"/>
            <a:ext cx="18457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" sz="1100" strike="noStrike" u="none">
                <a:solidFill>
                  <a:srgbClr val="333333"/>
                </a:solidFill>
                <a:effectLst/>
                <a:uFillTx/>
                <a:latin typeface="Roboto"/>
                <a:ea typeface="Roboto"/>
              </a:rPr>
              <a:t>Поле для текста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114;p26"/>
          <p:cNvSpPr/>
          <p:nvPr/>
        </p:nvSpPr>
        <p:spPr>
          <a:xfrm>
            <a:off x="3530880" y="2075040"/>
            <a:ext cx="19386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" sz="1100" strike="noStrike" u="none">
                <a:solidFill>
                  <a:srgbClr val="333333"/>
                </a:solidFill>
                <a:effectLst/>
                <a:uFillTx/>
                <a:latin typeface="Roboto"/>
                <a:ea typeface="Roboto"/>
              </a:rPr>
              <a:t>Поле для текста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115;p26"/>
          <p:cNvSpPr/>
          <p:nvPr/>
        </p:nvSpPr>
        <p:spPr>
          <a:xfrm>
            <a:off x="6081120" y="2075040"/>
            <a:ext cx="19386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" sz="1100" strike="noStrike" u="none">
                <a:solidFill>
                  <a:srgbClr val="333333"/>
                </a:solidFill>
                <a:effectLst/>
                <a:uFillTx/>
                <a:latin typeface="Roboto"/>
                <a:ea typeface="Roboto"/>
              </a:rPr>
              <a:t>Поле для текста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95360" y="1494000"/>
            <a:ext cx="4423680" cy="178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buNone/>
            </a:pPr>
            <a:r>
              <a:rPr b="0" lang="ru-RU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Google Shape;71;p17" descr=""/>
          <p:cNvPicPr/>
          <p:nvPr/>
        </p:nvPicPr>
        <p:blipFill>
          <a:blip r:embed="rId3"/>
          <a:stretch/>
        </p:blipFill>
        <p:spPr>
          <a:xfrm>
            <a:off x="5283720" y="843120"/>
            <a:ext cx="3457080" cy="34570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4440" y="1793880"/>
            <a:ext cx="7935120" cy="155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spAutoFit/>
          </a:bodyPr>
          <a:p>
            <a:pPr indent="0">
              <a:buNone/>
            </a:pPr>
            <a:r>
              <a:rPr b="0" lang="ru-RU" sz="4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4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9D6289-FE73-4999-AA19-FED6F6EFAFE6}" type="slidenum">
              <a: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b="0" lang="ru-RU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Google Shape;77;p19" descr=""/>
          <p:cNvPicPr/>
          <p:nvPr/>
        </p:nvPicPr>
        <p:blipFill>
          <a:blip r:embed="rId3"/>
          <a:stretch/>
        </p:blipFill>
        <p:spPr>
          <a:xfrm>
            <a:off x="922680" y="1821240"/>
            <a:ext cx="1642680" cy="754920"/>
          </a:xfrm>
          <a:prstGeom prst="rect">
            <a:avLst/>
          </a:prstGeom>
          <a:noFill/>
          <a:ln w="0">
            <a:noFill/>
          </a:ln>
          <a:effectLst>
            <a:outerShdw algn="bl" blurRad="142920" dir="5400000" dist="28440" rotWithShape="0">
              <a:srgbClr val="000000">
                <a:alpha val="41000"/>
              </a:srgbClr>
            </a:outerShdw>
          </a:effectLst>
        </p:spPr>
      </p:pic>
      <p:pic>
        <p:nvPicPr>
          <p:cNvPr id="46" name="Google Shape;78;p19" descr=""/>
          <p:cNvPicPr/>
          <p:nvPr/>
        </p:nvPicPr>
        <p:blipFill>
          <a:blip r:embed="rId4"/>
          <a:stretch/>
        </p:blipFill>
        <p:spPr>
          <a:xfrm>
            <a:off x="2768400" y="1821240"/>
            <a:ext cx="1642680" cy="754920"/>
          </a:xfrm>
          <a:prstGeom prst="rect">
            <a:avLst/>
          </a:prstGeom>
          <a:noFill/>
          <a:ln w="0">
            <a:noFill/>
          </a:ln>
          <a:effectLst>
            <a:outerShdw algn="bl" blurRad="142920" dir="5400000" dist="28440" rotWithShape="0">
              <a:srgbClr val="000000">
                <a:alpha val="41000"/>
              </a:srgbClr>
            </a:outerShdw>
          </a:effectLst>
        </p:spPr>
      </p:pic>
      <p:pic>
        <p:nvPicPr>
          <p:cNvPr id="47" name="Google Shape;79;p19" descr=""/>
          <p:cNvPicPr/>
          <p:nvPr/>
        </p:nvPicPr>
        <p:blipFill>
          <a:blip r:embed="rId5"/>
          <a:stretch/>
        </p:blipFill>
        <p:spPr>
          <a:xfrm>
            <a:off x="4527720" y="1821240"/>
            <a:ext cx="1642680" cy="754920"/>
          </a:xfrm>
          <a:prstGeom prst="rect">
            <a:avLst/>
          </a:prstGeom>
          <a:noFill/>
          <a:ln w="0">
            <a:noFill/>
          </a:ln>
          <a:effectLst>
            <a:outerShdw algn="bl" blurRad="142920" dir="5400000" dist="28440" rotWithShape="0">
              <a:srgbClr val="000000">
                <a:alpha val="41000"/>
              </a:srgbClr>
            </a:outerShdw>
          </a:effectLst>
        </p:spPr>
      </p:pic>
      <p:pic>
        <p:nvPicPr>
          <p:cNvPr id="48" name="Google Shape;80;p19" descr=""/>
          <p:cNvPicPr/>
          <p:nvPr/>
        </p:nvPicPr>
        <p:blipFill>
          <a:blip r:embed="rId6"/>
          <a:stretch/>
        </p:blipFill>
        <p:spPr>
          <a:xfrm>
            <a:off x="6347160" y="1821240"/>
            <a:ext cx="1642680" cy="754920"/>
          </a:xfrm>
          <a:prstGeom prst="rect">
            <a:avLst/>
          </a:prstGeom>
          <a:noFill/>
          <a:ln w="0">
            <a:noFill/>
          </a:ln>
          <a:effectLst>
            <a:outerShdw algn="bl" blurRad="142920" dir="5400000" dist="28440" rotWithShape="0">
              <a:srgbClr val="000000">
                <a:alpha val="41000"/>
              </a:srgbClr>
            </a:outerShdw>
          </a:effectLst>
        </p:spPr>
      </p:pic>
      <p:sp>
        <p:nvSpPr>
          <p:cNvPr id="49" name="Google Shape;81;p19"/>
          <p:cNvSpPr/>
          <p:nvPr/>
        </p:nvSpPr>
        <p:spPr>
          <a:xfrm>
            <a:off x="1212840" y="1944720"/>
            <a:ext cx="106272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500" strike="noStrike" u="none">
                <a:solidFill>
                  <a:srgbClr val="eeeeee"/>
                </a:solidFill>
                <a:effectLst/>
                <a:uFillTx/>
                <a:latin typeface="Roboto"/>
                <a:ea typeface="Roboto"/>
              </a:rPr>
              <a:t>Этап 1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82;p19"/>
          <p:cNvSpPr/>
          <p:nvPr/>
        </p:nvSpPr>
        <p:spPr>
          <a:xfrm>
            <a:off x="3058560" y="1944720"/>
            <a:ext cx="106272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500" strike="noStrike" u="none">
                <a:solidFill>
                  <a:srgbClr val="eeeeee"/>
                </a:solidFill>
                <a:effectLst/>
                <a:uFillTx/>
                <a:latin typeface="Roboto"/>
                <a:ea typeface="Roboto"/>
              </a:rPr>
              <a:t>Этап 2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Google Shape;83;p19"/>
          <p:cNvSpPr/>
          <p:nvPr/>
        </p:nvSpPr>
        <p:spPr>
          <a:xfrm>
            <a:off x="4817880" y="1944720"/>
            <a:ext cx="106272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500" strike="noStrike" u="none">
                <a:solidFill>
                  <a:srgbClr val="eeeeee"/>
                </a:solidFill>
                <a:effectLst/>
                <a:uFillTx/>
                <a:latin typeface="Roboto"/>
                <a:ea typeface="Roboto"/>
              </a:rPr>
              <a:t>Этап 3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Google Shape;84;p19"/>
          <p:cNvSpPr/>
          <p:nvPr/>
        </p:nvSpPr>
        <p:spPr>
          <a:xfrm>
            <a:off x="6637320" y="1944720"/>
            <a:ext cx="106272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500" strike="noStrike" u="none">
                <a:solidFill>
                  <a:srgbClr val="eeeeee"/>
                </a:solidFill>
                <a:effectLst/>
                <a:uFillTx/>
                <a:latin typeface="Roboto"/>
                <a:ea typeface="Roboto"/>
              </a:rPr>
              <a:t>Этап 4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Google Shape;85;p19"/>
          <p:cNvSpPr/>
          <p:nvPr/>
        </p:nvSpPr>
        <p:spPr>
          <a:xfrm>
            <a:off x="982800" y="3241440"/>
            <a:ext cx="152280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" sz="900" strike="noStrike" u="none">
                <a:solidFill>
                  <a:srgbClr val="000000"/>
                </a:solidFill>
                <a:effectLst/>
                <a:uFillTx/>
                <a:latin typeface="Roboto"/>
                <a:ea typeface="Roboto"/>
              </a:rPr>
              <a:t>Описание данных в виде набора сущностей, отношений между ними, атрибутов сущностей,  их типов данных, соглашений 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" sz="900" strike="noStrike" u="none">
                <a:solidFill>
                  <a:srgbClr val="000000"/>
                </a:solidFill>
                <a:effectLst/>
                <a:uFillTx/>
                <a:latin typeface="Roboto"/>
                <a:ea typeface="Roboto"/>
              </a:rPr>
              <a:t>об именовании и правил проверки целостностей 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6;p19"/>
          <p:cNvSpPr/>
          <p:nvPr/>
        </p:nvSpPr>
        <p:spPr>
          <a:xfrm>
            <a:off x="2828520" y="3241440"/>
            <a:ext cx="152280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" sz="900" strike="noStrike" u="none">
                <a:solidFill>
                  <a:srgbClr val="000000"/>
                </a:solidFill>
                <a:effectLst/>
                <a:uFillTx/>
                <a:latin typeface="Roboto"/>
                <a:ea typeface="Roboto"/>
              </a:rPr>
              <a:t>Описание данных в виде набора сущностей, отношений между ними, атрибутов сущностей,  их типов данных, соглашений 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" sz="900" strike="noStrike" u="none">
                <a:solidFill>
                  <a:srgbClr val="000000"/>
                </a:solidFill>
                <a:effectLst/>
                <a:uFillTx/>
                <a:latin typeface="Roboto"/>
                <a:ea typeface="Roboto"/>
              </a:rPr>
              <a:t>об именовании и правил проверки целостностей 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Google Shape;87;p19"/>
          <p:cNvSpPr/>
          <p:nvPr/>
        </p:nvSpPr>
        <p:spPr>
          <a:xfrm>
            <a:off x="4587840" y="3241440"/>
            <a:ext cx="152280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" sz="900" strike="noStrike" u="none">
                <a:solidFill>
                  <a:srgbClr val="000000"/>
                </a:solidFill>
                <a:effectLst/>
                <a:uFillTx/>
                <a:latin typeface="Roboto"/>
                <a:ea typeface="Roboto"/>
              </a:rPr>
              <a:t>Описание данных в виде набора сущностей, отношений между ними, атрибутов сущностей,  их типов данных, соглашений 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" sz="900" strike="noStrike" u="none">
                <a:solidFill>
                  <a:srgbClr val="000000"/>
                </a:solidFill>
                <a:effectLst/>
                <a:uFillTx/>
                <a:latin typeface="Roboto"/>
                <a:ea typeface="Roboto"/>
              </a:rPr>
              <a:t>об именовании и правил проверки целостностей 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Google Shape;88;p19"/>
          <p:cNvSpPr/>
          <p:nvPr/>
        </p:nvSpPr>
        <p:spPr>
          <a:xfrm>
            <a:off x="6406920" y="3241440"/>
            <a:ext cx="152280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" sz="900" strike="noStrike" u="none">
                <a:solidFill>
                  <a:srgbClr val="000000"/>
                </a:solidFill>
                <a:effectLst/>
                <a:uFillTx/>
                <a:latin typeface="Roboto"/>
                <a:ea typeface="Roboto"/>
              </a:rPr>
              <a:t>Описание данных в виде набора сущностей, отношений между ними, атрибутов сущностей,  их типов данных, соглашений 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" sz="900" strike="noStrike" u="none">
                <a:solidFill>
                  <a:srgbClr val="000000"/>
                </a:solidFill>
                <a:effectLst/>
                <a:uFillTx/>
                <a:latin typeface="Roboto"/>
                <a:ea typeface="Roboto"/>
              </a:rPr>
              <a:t>об именовании и правил проверки целостностей </a:t>
            </a:r>
            <a:endParaRPr b="0" lang="ru-RU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8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8" name="Google Shape;91;p20"/>
          <p:cNvGraphicFramePr/>
          <p:nvPr/>
        </p:nvGraphicFramePr>
        <p:xfrm>
          <a:off x="655560" y="1745640"/>
          <a:ext cx="8210160" cy="1495080"/>
        </p:xfrm>
        <a:graphic>
          <a:graphicData uri="http://schemas.openxmlformats.org/drawingml/2006/table">
            <a:tbl>
              <a:tblPr/>
              <a:tblGrid>
                <a:gridCol w="3800160"/>
                <a:gridCol w="4410000"/>
              </a:tblGrid>
              <a:tr h="47880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Aft>
                          <a:spcPts val="1001"/>
                        </a:spcAft>
                        <a:tabLst>
                          <a:tab algn="l" pos="0"/>
                        </a:tabLst>
                      </a:pPr>
                      <a:r>
                        <a:rPr b="1" lang="ru" sz="1700" strike="noStrike" u="none">
                          <a:solidFill>
                            <a:srgbClr val="9857f3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1. Описание эксперимента</a:t>
                      </a:r>
                      <a:r>
                        <a:rPr b="1" lang="ru" sz="17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 </a:t>
                      </a:r>
                      <a:endParaRPr b="0" lang="ru-RU" sz="17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Aft>
                          <a:spcPts val="1001"/>
                        </a:spcAft>
                        <a:tabLst>
                          <a:tab algn="l" pos="0"/>
                        </a:tabLst>
                      </a:pPr>
                      <a:r>
                        <a:rPr b="1" lang="ru" sz="1700" strike="noStrike" u="none">
                          <a:solidFill>
                            <a:srgbClr val="9857f3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2. Технические детали</a:t>
                      </a:r>
                      <a:endParaRPr b="0" lang="ru-RU" sz="17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1015920"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24000">
                        <a:lnSpc>
                          <a:spcPct val="115000"/>
                        </a:lnSpc>
                        <a:buClr>
                          <a:srgbClr val="000000"/>
                        </a:buClr>
                        <a:buFont typeface="Roboto"/>
                        <a:buChar char="●"/>
                      </a:pPr>
                      <a:r>
                        <a:rPr b="0" lang="ru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   Гипотеза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457200" indent="-324000">
                        <a:lnSpc>
                          <a:spcPct val="115000"/>
                        </a:lnSpc>
                        <a:buClr>
                          <a:srgbClr val="000000"/>
                        </a:buClr>
                        <a:buFont typeface="Roboto"/>
                        <a:buChar char="●"/>
                      </a:pPr>
                      <a:r>
                        <a:rPr b="0" lang="ru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   Целевая аудитория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457200" indent="-324000">
                        <a:lnSpc>
                          <a:spcPct val="115000"/>
                        </a:lnSpc>
                        <a:buClr>
                          <a:srgbClr val="000000"/>
                        </a:buClr>
                        <a:buFont typeface="Roboto"/>
                        <a:buChar char="●"/>
                      </a:pPr>
                      <a:r>
                        <a:rPr b="0" lang="ru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   Ожидаемый результат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 marL="457200" indent="-317520">
                        <a:lnSpc>
                          <a:spcPct val="115000"/>
                        </a:lnSpc>
                        <a:buClr>
                          <a:srgbClr val="000000"/>
                        </a:buClr>
                        <a:buFont typeface="Roboto"/>
                        <a:buChar char="●"/>
                      </a:pPr>
                      <a:r>
                        <a:rPr b="0" lang="ru" sz="17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 </a:t>
                      </a:r>
                      <a:r>
                        <a:rPr b="0" lang="ru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Реализация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457200" indent="-324000">
                        <a:lnSpc>
                          <a:spcPct val="115000"/>
                        </a:lnSpc>
                        <a:buClr>
                          <a:srgbClr val="000000"/>
                        </a:buClr>
                        <a:buFont typeface="Roboto"/>
                        <a:buChar char="●"/>
                      </a:pPr>
                      <a:r>
                        <a:rPr b="0" lang="ru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 Настройки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457200" indent="-324000">
                        <a:lnSpc>
                          <a:spcPct val="115000"/>
                        </a:lnSpc>
                        <a:buClr>
                          <a:srgbClr val="000000"/>
                        </a:buClr>
                        <a:buFont typeface="Roboto"/>
                        <a:buChar char="●"/>
                      </a:pPr>
                      <a:r>
                        <a:rPr b="0" lang="ru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 Метрики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ffffff"/>
                      </a:solidFill>
                      <a:prstDash val="solid"/>
                    </a:lnL>
                    <a:lnR w="9360">
                      <a:solidFill>
                        <a:srgbClr val="ffffff"/>
                      </a:solidFill>
                      <a:prstDash val="solid"/>
                    </a:lnR>
                    <a:lnT w="9360">
                      <a:solidFill>
                        <a:srgbClr val="ffffff"/>
                      </a:solidFill>
                      <a:prstDash val="solid"/>
                    </a:lnT>
                    <a:lnB w="936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93;p21"/>
          <p:cNvSpPr/>
          <p:nvPr/>
        </p:nvSpPr>
        <p:spPr>
          <a:xfrm>
            <a:off x="556200" y="4554000"/>
            <a:ext cx="42397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84240" bIns="842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добавьте ссылку на источник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51600" y="1648440"/>
            <a:ext cx="7705800" cy="158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spAutoFit/>
          </a:bodyPr>
          <a:p>
            <a:pPr indent="0">
              <a:buNone/>
            </a:pPr>
            <a:r>
              <a:rPr b="0" lang="ru-RU" sz="4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2" name="Google Shape;98;p23"/>
          <p:cNvGraphicFramePr/>
          <p:nvPr/>
        </p:nvGraphicFramePr>
        <p:xfrm>
          <a:off x="608760" y="1593720"/>
          <a:ext cx="7960680" cy="3112560"/>
        </p:xfrm>
        <a:graphic>
          <a:graphicData uri="http://schemas.openxmlformats.org/drawingml/2006/table">
            <a:tbl>
              <a:tblPr/>
              <a:tblGrid>
                <a:gridCol w="395640"/>
                <a:gridCol w="2403360"/>
                <a:gridCol w="2684520"/>
                <a:gridCol w="2476800"/>
              </a:tblGrid>
              <a:tr h="705960">
                <a:tc>
                  <a:txBody>
                    <a:bodyPr lIns="91080" rIns="91080" tIns="91080" b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9857f3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Название столбца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9857f3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Название столбца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1080" rIns="91080" tIns="91080" b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9857f3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Название столбца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12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400" strike="noStrike" u="none">
                          <a:solidFill>
                            <a:srgbClr val="9857f3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1.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Текст нежирным шрифтом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Текст нежирным шрифтом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Текст нежирным шрифтом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</a:tr>
              <a:tr h="42012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400" strike="noStrike" u="none">
                          <a:solidFill>
                            <a:srgbClr val="9857f3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2.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</a:tr>
              <a:tr h="42012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400" strike="noStrike" u="none">
                          <a:solidFill>
                            <a:srgbClr val="9857f3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3.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</a:tr>
              <a:tr h="42012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400" strike="noStrike" u="none">
                          <a:solidFill>
                            <a:srgbClr val="9857f3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4.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</a:tr>
              <a:tr h="42012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400" strike="noStrike" u="none">
                          <a:solidFill>
                            <a:srgbClr val="9857f3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5.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d9d9d9"/>
                      </a:solidFill>
                      <a:prstDash val="solid"/>
                    </a:lnL>
                    <a:lnR w="9360">
                      <a:solidFill>
                        <a:srgbClr val="d9d9d9"/>
                      </a:solidFill>
                      <a:prstDash val="solid"/>
                    </a:lnR>
                    <a:lnT w="9360">
                      <a:solidFill>
                        <a:srgbClr val="d9d9d9"/>
                      </a:solidFill>
                      <a:prstDash val="solid"/>
                    </a:lnT>
                    <a:lnB w="9360">
                      <a:solidFill>
                        <a:srgbClr val="d9d9d9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6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7883AD-7813-41F1-B009-F0554043B960}" type="slidenum">
              <a: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b="0" lang="ru-RU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Google Shape;101;p24"/>
          <p:cNvSpPr/>
          <p:nvPr/>
        </p:nvSpPr>
        <p:spPr>
          <a:xfrm>
            <a:off x="791640" y="1039320"/>
            <a:ext cx="3640320" cy="7056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2;p24"/>
          <p:cNvSpPr/>
          <p:nvPr/>
        </p:nvSpPr>
        <p:spPr>
          <a:xfrm>
            <a:off x="791640" y="1904760"/>
            <a:ext cx="3640320" cy="7056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3;p24"/>
          <p:cNvSpPr/>
          <p:nvPr/>
        </p:nvSpPr>
        <p:spPr>
          <a:xfrm>
            <a:off x="791640" y="2770560"/>
            <a:ext cx="3640320" cy="7056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104;p24"/>
          <p:cNvSpPr/>
          <p:nvPr/>
        </p:nvSpPr>
        <p:spPr>
          <a:xfrm>
            <a:off x="791640" y="3636360"/>
            <a:ext cx="3640320" cy="7056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05;p24"/>
          <p:cNvSpPr/>
          <p:nvPr/>
        </p:nvSpPr>
        <p:spPr>
          <a:xfrm>
            <a:off x="5533920" y="1409040"/>
            <a:ext cx="2468520" cy="2468520"/>
          </a:xfrm>
          <a:prstGeom prst="roundRect">
            <a:avLst>
              <a:gd name="adj" fmla="val 16667"/>
            </a:avLst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7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500400" y="1720800"/>
            <a:ext cx="7935120" cy="128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spAutoFit/>
          </a:bodyPr>
          <a:p>
            <a:pPr indent="0">
              <a:buNone/>
            </a:pPr>
            <a:r>
              <a:rPr b="0" lang="ru-RU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5B69404-C51C-4D01-AA12-D538D3B5763C}" type="slidenum">
              <a: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b="0" lang="ru-RU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8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72E2AB8-FFEA-47FE-B6D4-BB6168E6CAD1}" type="slidenum">
              <a:rPr b="0" lang="ru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b="0" lang="ru-RU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9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97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0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97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Google Shape;129;p31"/>
          <p:cNvSpPr/>
          <p:nvPr/>
        </p:nvSpPr>
        <p:spPr>
          <a:xfrm>
            <a:off x="606240" y="1441080"/>
            <a:ext cx="7938360" cy="3564720"/>
          </a:xfrm>
          <a:prstGeom prst="rect">
            <a:avLst/>
          </a:prstGeom>
          <a:solidFill>
            <a:srgbClr val="fbfb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_3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651600" y="396360"/>
            <a:ext cx="7705800" cy="40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buNone/>
            </a:pPr>
            <a:r>
              <a:rPr b="0" lang="ru-RU" sz="4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4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_1_1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35;p33"/>
          <p:cNvSpPr/>
          <p:nvPr/>
        </p:nvSpPr>
        <p:spPr>
          <a:xfrm>
            <a:off x="590400" y="1365120"/>
            <a:ext cx="7988040" cy="341208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4_2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ru-RU" sz="3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3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40;p34"/>
          <p:cNvSpPr/>
          <p:nvPr/>
        </p:nvSpPr>
        <p:spPr>
          <a:xfrm>
            <a:off x="606240" y="2144160"/>
            <a:ext cx="7938360" cy="2464200"/>
          </a:xfrm>
          <a:prstGeom prst="rect">
            <a:avLst/>
          </a:prstGeom>
          <a:solidFill>
            <a:srgbClr val="fbfb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8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16.png"/><Relationship Id="rId7" Type="http://schemas.openxmlformats.org/officeDocument/2006/relationships/slideLayout" Target="../slideLayouts/slideLayout2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146;p35" descr=""/>
          <p:cNvPicPr/>
          <p:nvPr/>
        </p:nvPicPr>
        <p:blipFill>
          <a:blip r:embed="rId1"/>
          <a:srcRect l="18595" t="0" r="18589" b="0"/>
          <a:stretch/>
        </p:blipFill>
        <p:spPr>
          <a:xfrm>
            <a:off x="-50400" y="-3276360"/>
            <a:ext cx="9408240" cy="836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Google Shape;147;p35"/>
          <p:cNvSpPr/>
          <p:nvPr/>
        </p:nvSpPr>
        <p:spPr>
          <a:xfrm>
            <a:off x="450000" y="1416960"/>
            <a:ext cx="7584120" cy="184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90000"/>
              </a:lnSpc>
              <a:tabLst>
                <a:tab algn="l" pos="0"/>
              </a:tabLst>
            </a:pPr>
            <a:r>
              <a:rPr b="1" lang="ru" sz="40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Проектирование сетевой фабрики на основе 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algn="l" pos="0"/>
              </a:tabLst>
            </a:pPr>
            <a:r>
              <a:rPr b="1" lang="ru" sz="40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VxLAN EVPN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Google Shape;148;p35" descr=""/>
          <p:cNvPicPr/>
          <p:nvPr/>
        </p:nvPicPr>
        <p:blipFill>
          <a:blip r:embed="rId2"/>
          <a:stretch/>
        </p:blipFill>
        <p:spPr>
          <a:xfrm>
            <a:off x="7913880" y="268920"/>
            <a:ext cx="821880" cy="28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Google Shape;149;p35"/>
          <p:cNvSpPr/>
          <p:nvPr/>
        </p:nvSpPr>
        <p:spPr>
          <a:xfrm>
            <a:off x="629640" y="4138200"/>
            <a:ext cx="2920320" cy="42624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50;p35"/>
          <p:cNvSpPr/>
          <p:nvPr/>
        </p:nvSpPr>
        <p:spPr>
          <a:xfrm>
            <a:off x="656280" y="4127400"/>
            <a:ext cx="286740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0" lang="ru" sz="1900" strike="noStrike" u="none">
                <a:solidFill>
                  <a:srgbClr val="ffffff"/>
                </a:solidFill>
                <a:effectLst/>
                <a:uFillTx/>
                <a:latin typeface="Roboto Medium"/>
                <a:ea typeface="Roboto Medium"/>
              </a:rPr>
              <a:t>GA-Дизайн сетей ЦОД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51;p35"/>
          <p:cNvSpPr/>
          <p:nvPr/>
        </p:nvSpPr>
        <p:spPr>
          <a:xfrm>
            <a:off x="3756240" y="4138200"/>
            <a:ext cx="1548360" cy="42624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52;p35"/>
          <p:cNvSpPr/>
          <p:nvPr/>
        </p:nvSpPr>
        <p:spPr>
          <a:xfrm>
            <a:off x="3756240" y="4127400"/>
            <a:ext cx="1548360" cy="44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0" lang="ru" sz="1900" strike="noStrike" u="none">
                <a:solidFill>
                  <a:srgbClr val="ffffff"/>
                </a:solidFill>
                <a:effectLst/>
                <a:uFillTx/>
                <a:latin typeface="Roboto Medium"/>
                <a:ea typeface="Roboto Medium"/>
              </a:rPr>
              <a:t>2025-2026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" name="Google Shape;153;p35" descr=""/>
          <p:cNvPicPr/>
          <p:nvPr/>
        </p:nvPicPr>
        <p:blipFill>
          <a:blip r:embed="rId3"/>
          <a:stretch/>
        </p:blipFill>
        <p:spPr>
          <a:xfrm>
            <a:off x="6588720" y="2289960"/>
            <a:ext cx="2511720" cy="2511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744120" y="1346040"/>
            <a:ext cx="7935120" cy="155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4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Меня хорошо видно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4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&amp; слышно?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Google Shape;159;p36" descr=""/>
          <p:cNvPicPr/>
          <p:nvPr/>
        </p:nvPicPr>
        <p:blipFill>
          <a:blip r:embed="rId1"/>
          <a:stretch/>
        </p:blipFill>
        <p:spPr>
          <a:xfrm>
            <a:off x="1544040" y="3841200"/>
            <a:ext cx="545400" cy="54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Google Shape;160;p36" descr=""/>
          <p:cNvPicPr/>
          <p:nvPr/>
        </p:nvPicPr>
        <p:blipFill>
          <a:blip r:embed="rId2"/>
          <a:stretch/>
        </p:blipFill>
        <p:spPr>
          <a:xfrm>
            <a:off x="825480" y="3890880"/>
            <a:ext cx="536760" cy="536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500400" y="313560"/>
            <a:ext cx="8520120" cy="1841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Защита проекта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3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Тема: Проектирование сетевой фабрики на основе VxLAN EVPN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67;p37"/>
          <p:cNvSpPr/>
          <p:nvPr/>
        </p:nvSpPr>
        <p:spPr>
          <a:xfrm>
            <a:off x="3899520" y="2336400"/>
            <a:ext cx="3701520" cy="37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b="1" lang="ru" sz="2300" strike="noStrike" u="none">
                <a:solidFill>
                  <a:srgbClr val="3f299a"/>
                </a:solidFill>
                <a:effectLst/>
                <a:uFillTx/>
                <a:latin typeface="Roboto"/>
                <a:ea typeface="Roboto"/>
              </a:rPr>
              <a:t>Бодров Дмитрий</a:t>
            </a:r>
            <a:endParaRPr b="0" lang="ru-RU" sz="2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68;p37"/>
          <p:cNvSpPr/>
          <p:nvPr/>
        </p:nvSpPr>
        <p:spPr>
          <a:xfrm>
            <a:off x="3899520" y="2893320"/>
            <a:ext cx="3192840" cy="62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ru" sz="1300" strike="noStrike" u="none">
                <a:solidFill>
                  <a:srgbClr val="000000"/>
                </a:solidFill>
                <a:effectLst/>
                <a:uFillTx/>
                <a:latin typeface="Roboto Medium"/>
                <a:ea typeface="Roboto Medium"/>
              </a:rPr>
              <a:t>АО “Гринатом”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ru" sz="1300" strike="noStrike" u="none">
                <a:solidFill>
                  <a:srgbClr val="000000"/>
                </a:solidFill>
                <a:effectLst/>
                <a:uFillTx/>
                <a:latin typeface="Roboto Medium"/>
                <a:ea typeface="Roboto Medium"/>
              </a:rPr>
              <a:t>Руководитель группы ИТ и ИБ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" descr=""/>
          <p:cNvPicPr/>
          <p:nvPr/>
        </p:nvPicPr>
        <p:blipFill>
          <a:blip r:embed="rId1"/>
          <a:stretch/>
        </p:blipFill>
        <p:spPr>
          <a:xfrm>
            <a:off x="940680" y="1980000"/>
            <a:ext cx="2479320" cy="247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175;p 1" descr=""/>
          <p:cNvPicPr/>
          <p:nvPr/>
        </p:nvPicPr>
        <p:blipFill>
          <a:blip r:embed="rId1"/>
          <a:stretch/>
        </p:blipFill>
        <p:spPr>
          <a:xfrm>
            <a:off x="1260000" y="2868480"/>
            <a:ext cx="1293840" cy="594360"/>
          </a:xfrm>
          <a:prstGeom prst="rect">
            <a:avLst/>
          </a:prstGeom>
          <a:noFill/>
          <a:ln w="0">
            <a:noFill/>
          </a:ln>
          <a:effectLst>
            <a:outerShdw algn="bl" blurRad="142920" dir="5400000" dist="28440" rotWithShape="0">
              <a:srgbClr val="000000">
                <a:alpha val="41000"/>
              </a:srgbClr>
            </a:outerShdw>
          </a:effectLst>
        </p:spPr>
      </p:pic>
      <p:pic>
        <p:nvPicPr>
          <p:cNvPr id="97" name="Google Shape;173;p38" descr=""/>
          <p:cNvPicPr/>
          <p:nvPr/>
        </p:nvPicPr>
        <p:blipFill>
          <a:blip r:embed="rId2"/>
          <a:stretch/>
        </p:blipFill>
        <p:spPr>
          <a:xfrm>
            <a:off x="1260000" y="811080"/>
            <a:ext cx="1293840" cy="594360"/>
          </a:xfrm>
          <a:prstGeom prst="rect">
            <a:avLst/>
          </a:prstGeom>
          <a:noFill/>
          <a:ln w="0">
            <a:noFill/>
          </a:ln>
          <a:effectLst>
            <a:outerShdw algn="bl" blurRad="142920" dir="5400000" dist="28440" rotWithShape="0">
              <a:srgbClr val="000000">
                <a:alpha val="41000"/>
              </a:srgbClr>
            </a:outerShdw>
          </a:effectLst>
        </p:spPr>
      </p:pic>
      <p:pic>
        <p:nvPicPr>
          <p:cNvPr id="98" name="Google Shape;174;p38" descr=""/>
          <p:cNvPicPr/>
          <p:nvPr/>
        </p:nvPicPr>
        <p:blipFill>
          <a:blip r:embed="rId3"/>
          <a:stretch/>
        </p:blipFill>
        <p:spPr>
          <a:xfrm>
            <a:off x="1260000" y="1524240"/>
            <a:ext cx="1293840" cy="594360"/>
          </a:xfrm>
          <a:prstGeom prst="rect">
            <a:avLst/>
          </a:prstGeom>
          <a:noFill/>
          <a:ln w="0">
            <a:noFill/>
          </a:ln>
          <a:effectLst>
            <a:outerShdw algn="bl" blurRad="142920" dir="5400000" dist="28440" rotWithShape="0">
              <a:srgbClr val="000000">
                <a:alpha val="41000"/>
              </a:srgbClr>
            </a:outerShdw>
          </a:effectLst>
        </p:spPr>
      </p:pic>
      <p:pic>
        <p:nvPicPr>
          <p:cNvPr id="99" name="Google Shape;175;p38" descr=""/>
          <p:cNvPicPr/>
          <p:nvPr/>
        </p:nvPicPr>
        <p:blipFill>
          <a:blip r:embed="rId4"/>
          <a:stretch/>
        </p:blipFill>
        <p:spPr>
          <a:xfrm>
            <a:off x="1260000" y="2200320"/>
            <a:ext cx="1293840" cy="594360"/>
          </a:xfrm>
          <a:prstGeom prst="rect">
            <a:avLst/>
          </a:prstGeom>
          <a:noFill/>
          <a:ln w="0">
            <a:noFill/>
          </a:ln>
          <a:effectLst>
            <a:outerShdw algn="bl" blurRad="142920" dir="5400000" dist="28440" rotWithShape="0">
              <a:srgbClr val="000000">
                <a:alpha val="41000"/>
              </a:srgbClr>
            </a:outerShdw>
          </a:effectLst>
        </p:spPr>
      </p:pic>
      <p:pic>
        <p:nvPicPr>
          <p:cNvPr id="100" name="Google Shape;176;p38" descr=""/>
          <p:cNvPicPr/>
          <p:nvPr/>
        </p:nvPicPr>
        <p:blipFill>
          <a:blip r:embed="rId5"/>
          <a:stretch/>
        </p:blipFill>
        <p:spPr>
          <a:xfrm>
            <a:off x="1226160" y="3545640"/>
            <a:ext cx="1293840" cy="594360"/>
          </a:xfrm>
          <a:prstGeom prst="rect">
            <a:avLst/>
          </a:prstGeom>
          <a:noFill/>
          <a:ln w="0">
            <a:noFill/>
          </a:ln>
          <a:effectLst>
            <a:outerShdw algn="bl" blurRad="142920" dir="5400000" dist="28440" rotWithShape="0">
              <a:srgbClr val="000000">
                <a:alpha val="41000"/>
              </a:srgbClr>
            </a:outerShdw>
          </a:effectLst>
        </p:spPr>
      </p:pic>
      <p:pic>
        <p:nvPicPr>
          <p:cNvPr id="101" name="Google Shape;177;p38" descr=""/>
          <p:cNvPicPr/>
          <p:nvPr/>
        </p:nvPicPr>
        <p:blipFill>
          <a:blip r:embed="rId6"/>
          <a:stretch/>
        </p:blipFill>
        <p:spPr>
          <a:xfrm>
            <a:off x="1260000" y="4265640"/>
            <a:ext cx="1293840" cy="594360"/>
          </a:xfrm>
          <a:prstGeom prst="rect">
            <a:avLst/>
          </a:prstGeom>
          <a:noFill/>
          <a:ln w="0">
            <a:noFill/>
          </a:ln>
          <a:effectLst>
            <a:outerShdw algn="bl" blurRad="142920" dir="5400000" dist="28440" rotWithShape="0">
              <a:srgbClr val="000000">
                <a:alpha val="41000"/>
              </a:srgbClr>
            </a:outerShdw>
          </a:effectLst>
        </p:spPr>
      </p:pic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540000" y="164520"/>
            <a:ext cx="749268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1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План защиты</a:t>
            </a:r>
            <a:endParaRPr b="0" lang="ru-RU" sz="3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79;p38"/>
          <p:cNvSpPr/>
          <p:nvPr/>
        </p:nvSpPr>
        <p:spPr>
          <a:xfrm>
            <a:off x="1488240" y="900720"/>
            <a:ext cx="83700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400" strike="noStrike" u="none">
                <a:solidFill>
                  <a:schemeClr val="lt2"/>
                </a:solidFill>
                <a:effectLst/>
                <a:uFillTx/>
                <a:latin typeface="Roboto"/>
                <a:ea typeface="Roboto"/>
              </a:rPr>
              <a:t>Этап 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180;p38"/>
          <p:cNvSpPr/>
          <p:nvPr/>
        </p:nvSpPr>
        <p:spPr>
          <a:xfrm>
            <a:off x="1488240" y="1613880"/>
            <a:ext cx="83700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400" strike="noStrike" u="none">
                <a:solidFill>
                  <a:schemeClr val="lt2"/>
                </a:solidFill>
                <a:effectLst/>
                <a:uFillTx/>
                <a:latin typeface="Roboto"/>
                <a:ea typeface="Roboto"/>
              </a:rPr>
              <a:t>Этап 2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81;p38"/>
          <p:cNvSpPr/>
          <p:nvPr/>
        </p:nvSpPr>
        <p:spPr>
          <a:xfrm>
            <a:off x="1488240" y="2289960"/>
            <a:ext cx="83700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400" strike="noStrike" u="none">
                <a:solidFill>
                  <a:schemeClr val="lt2"/>
                </a:solidFill>
                <a:effectLst/>
                <a:uFillTx/>
                <a:latin typeface="Roboto"/>
                <a:ea typeface="Roboto"/>
              </a:rPr>
              <a:t>Этап 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82;p38"/>
          <p:cNvSpPr/>
          <p:nvPr/>
        </p:nvSpPr>
        <p:spPr>
          <a:xfrm>
            <a:off x="1488240" y="2958120"/>
            <a:ext cx="83700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400" strike="noStrike" u="none">
                <a:solidFill>
                  <a:schemeClr val="lt2"/>
                </a:solidFill>
                <a:effectLst/>
                <a:uFillTx/>
                <a:latin typeface="Roboto"/>
                <a:ea typeface="Roboto"/>
              </a:rPr>
              <a:t>Этап 4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83;p38"/>
          <p:cNvSpPr/>
          <p:nvPr/>
        </p:nvSpPr>
        <p:spPr>
          <a:xfrm>
            <a:off x="1503000" y="4320000"/>
            <a:ext cx="83700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400" strike="noStrike" u="none">
                <a:solidFill>
                  <a:schemeClr val="lt2"/>
                </a:solidFill>
                <a:effectLst/>
                <a:uFillTx/>
                <a:latin typeface="Roboto"/>
                <a:ea typeface="Roboto"/>
              </a:rPr>
              <a:t>Этап 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8" name="Google Shape;184;p38"/>
          <p:cNvGraphicFramePr/>
          <p:nvPr/>
        </p:nvGraphicFramePr>
        <p:xfrm>
          <a:off x="2710440" y="793800"/>
          <a:ext cx="5493960" cy="629280"/>
        </p:xfrm>
        <a:graphic>
          <a:graphicData uri="http://schemas.openxmlformats.org/drawingml/2006/table">
            <a:tbl>
              <a:tblPr/>
              <a:tblGrid>
                <a:gridCol w="5493960"/>
              </a:tblGrid>
              <a:tr h="629280">
                <a:tc>
                  <a:txBody>
                    <a:bodyPr lIns="91080" rIns="91080" tIns="91080" b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Цель и задачи проекта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9" name="Google Shape;185;p38"/>
          <p:cNvGraphicFramePr/>
          <p:nvPr/>
        </p:nvGraphicFramePr>
        <p:xfrm>
          <a:off x="2710440" y="1506960"/>
          <a:ext cx="5493960" cy="629280"/>
        </p:xfrm>
        <a:graphic>
          <a:graphicData uri="http://schemas.openxmlformats.org/drawingml/2006/table">
            <a:tbl>
              <a:tblPr/>
              <a:tblGrid>
                <a:gridCol w="5493960"/>
              </a:tblGrid>
              <a:tr h="629280">
                <a:tc>
                  <a:txBody>
                    <a:bodyPr lIns="91080" rIns="91080" tIns="91080" b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Используемые технологии и оборудование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0" name="Google Shape;186;p38"/>
          <p:cNvGraphicFramePr/>
          <p:nvPr/>
        </p:nvGraphicFramePr>
        <p:xfrm>
          <a:off x="2710440" y="2187720"/>
          <a:ext cx="5493960" cy="629280"/>
        </p:xfrm>
        <a:graphic>
          <a:graphicData uri="http://schemas.openxmlformats.org/drawingml/2006/table">
            <a:tbl>
              <a:tblPr/>
              <a:tblGrid>
                <a:gridCol w="5493960"/>
              </a:tblGrid>
              <a:tr h="629280">
                <a:tc>
                  <a:txBody>
                    <a:bodyPr lIns="91080" rIns="91080" tIns="91080" b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Что получилось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1" name="Google Shape;187;p38"/>
          <p:cNvGraphicFramePr/>
          <p:nvPr/>
        </p:nvGraphicFramePr>
        <p:xfrm>
          <a:off x="2710440" y="3516480"/>
          <a:ext cx="5493960" cy="629280"/>
        </p:xfrm>
        <a:graphic>
          <a:graphicData uri="http://schemas.openxmlformats.org/drawingml/2006/table">
            <a:tbl>
              <a:tblPr/>
              <a:tblGrid>
                <a:gridCol w="5493960"/>
              </a:tblGrid>
              <a:tr h="629280">
                <a:tc>
                  <a:txBody>
                    <a:bodyPr lIns="91080" rIns="91080" tIns="91080" b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Выводы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2" name="Google Shape;188;p38"/>
          <p:cNvGraphicFramePr/>
          <p:nvPr/>
        </p:nvGraphicFramePr>
        <p:xfrm>
          <a:off x="2694240" y="4228560"/>
          <a:ext cx="5493960" cy="629280"/>
        </p:xfrm>
        <a:graphic>
          <a:graphicData uri="http://schemas.openxmlformats.org/drawingml/2006/table">
            <a:tbl>
              <a:tblPr/>
              <a:tblGrid>
                <a:gridCol w="5493960"/>
              </a:tblGrid>
              <a:tr h="629280">
                <a:tc>
                  <a:txBody>
                    <a:bodyPr lIns="91080" rIns="91080" tIns="91080" b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Вопросы и рекомендации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3" name="Google Shape;182;p 1"/>
          <p:cNvSpPr/>
          <p:nvPr/>
        </p:nvSpPr>
        <p:spPr>
          <a:xfrm>
            <a:off x="1503000" y="3600000"/>
            <a:ext cx="83700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400" strike="noStrike" u="none">
                <a:solidFill>
                  <a:schemeClr val="lt2"/>
                </a:solidFill>
                <a:effectLst/>
                <a:uFillTx/>
                <a:latin typeface="Roboto"/>
                <a:ea typeface="Roboto"/>
              </a:rPr>
              <a:t>Этап 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4" name="Google Shape;186;p 1"/>
          <p:cNvGraphicFramePr/>
          <p:nvPr/>
        </p:nvGraphicFramePr>
        <p:xfrm>
          <a:off x="2706840" y="2833920"/>
          <a:ext cx="5493960" cy="629280"/>
        </p:xfrm>
        <a:graphic>
          <a:graphicData uri="http://schemas.openxmlformats.org/drawingml/2006/table">
            <a:tbl>
              <a:tblPr/>
              <a:tblGrid>
                <a:gridCol w="5493960"/>
              </a:tblGrid>
              <a:tr h="629280">
                <a:tc>
                  <a:txBody>
                    <a:bodyPr lIns="91080" rIns="91080" tIns="91080" b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Что не получилось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080" marR="91080">
                    <a:lnL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93;p39"/>
          <p:cNvSpPr/>
          <p:nvPr/>
        </p:nvSpPr>
        <p:spPr>
          <a:xfrm>
            <a:off x="560520" y="324720"/>
            <a:ext cx="8520120" cy="130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3000" strike="noStrike" u="none">
                <a:solidFill>
                  <a:srgbClr val="000000"/>
                </a:solidFill>
                <a:effectLst/>
                <a:uFillTx/>
                <a:latin typeface="Roboto"/>
                <a:ea typeface="Roboto"/>
              </a:rPr>
              <a:t>Цель и задачи проекта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6" name="Google Shape;194;p39"/>
          <p:cNvGraphicFramePr/>
          <p:nvPr/>
        </p:nvGraphicFramePr>
        <p:xfrm>
          <a:off x="1022040" y="1998360"/>
          <a:ext cx="7238160" cy="2810520"/>
        </p:xfrm>
        <a:graphic>
          <a:graphicData uri="http://schemas.openxmlformats.org/drawingml/2006/table">
            <a:tbl>
              <a:tblPr/>
              <a:tblGrid>
                <a:gridCol w="325080"/>
                <a:gridCol w="6913440"/>
              </a:tblGrid>
              <a:tr h="103788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 Medium"/>
                          <a:ea typeface="Roboto Medium"/>
                        </a:rPr>
                        <a:t>           При выполнении работ учесть: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1. </a:t>
                      </a:r>
                      <a:r>
                        <a:rPr b="0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Количество стоек в новом серверном помещении;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46764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2. </a:t>
                      </a:r>
                      <a:r>
                        <a:rPr b="0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Существующие зоны безопасности;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103788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3. </a:t>
                      </a:r>
                      <a:r>
                        <a:rPr b="0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Уже используемое сетевое оборудование;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4. </a:t>
                      </a:r>
                      <a:r>
                        <a:rPr b="0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Заложить возможность тиражирования;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438480"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7" name="Google Shape;195;p39"/>
          <p:cNvSpPr/>
          <p:nvPr/>
        </p:nvSpPr>
        <p:spPr>
          <a:xfrm>
            <a:off x="986400" y="1030320"/>
            <a:ext cx="7238520" cy="93492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0">
            <a:noFill/>
          </a:ln>
          <a:effectLst>
            <a:outerShdw algn="bl" blurRad="57240" dir="5400000" dist="19080" rotWithShape="0">
              <a:srgbClr val="000000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62000" rIns="162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500" strike="noStrike" u="none">
                <a:solidFill>
                  <a:schemeClr val="dk1"/>
                </a:solidFill>
                <a:effectLst/>
                <a:uFillTx/>
                <a:latin typeface="Roboto Medium"/>
                <a:ea typeface="Roboto Medium"/>
              </a:rPr>
              <a:t>Цель проекта: спроектировать сетевую фабрику для нового серверного помещения ЦОД, с учетом особенностей существующей сетевой инфраструктуры.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Используемые технологии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9" name="Google Shape;201;p40"/>
          <p:cNvGraphicFramePr/>
          <p:nvPr/>
        </p:nvGraphicFramePr>
        <p:xfrm>
          <a:off x="893160" y="1338480"/>
          <a:ext cx="7238520" cy="5160240"/>
        </p:xfrm>
        <a:graphic>
          <a:graphicData uri="http://schemas.openxmlformats.org/drawingml/2006/table">
            <a:tbl>
              <a:tblPr/>
              <a:tblGrid>
                <a:gridCol w="325080"/>
                <a:gridCol w="6913440"/>
              </a:tblGrid>
              <a:tr h="38088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1. </a:t>
                      </a:r>
                      <a:r>
                        <a:rPr b="0" lang="ru" sz="16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Underlay (OSPF);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2. </a:t>
                      </a:r>
                      <a:r>
                        <a:rPr b="0" lang="ru" sz="16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VxLAN (L2 VNI, L3 VNI);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3. </a:t>
                      </a:r>
                      <a:r>
                        <a:rPr b="0" lang="ru" sz="16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Multihoming (VxLAN ESI-LAG);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4. </a:t>
                      </a:r>
                      <a:r>
                        <a:rPr b="0" lang="ru" sz="16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BFD;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5. </a:t>
                      </a:r>
                      <a:r>
                        <a:rPr b="0" lang="ru" sz="16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VRF;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6. </a:t>
                      </a:r>
                      <a:r>
                        <a:rPr b="0" lang="ru" sz="16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IPsec;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500400" y="33084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Используемое оборудование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1" name="Google Shape;207;p41"/>
          <p:cNvGraphicFramePr/>
          <p:nvPr/>
        </p:nvGraphicFramePr>
        <p:xfrm>
          <a:off x="712800" y="1378080"/>
          <a:ext cx="7238520" cy="4304880"/>
        </p:xfrm>
        <a:graphic>
          <a:graphicData uri="http://schemas.openxmlformats.org/drawingml/2006/table">
            <a:tbl>
              <a:tblPr/>
              <a:tblGrid>
                <a:gridCol w="489240"/>
                <a:gridCol w="6749280"/>
              </a:tblGrid>
              <a:tr h="38088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1. </a:t>
                      </a:r>
                      <a:r>
                        <a:rPr b="0" lang="ru" sz="1600" strike="noStrike" u="none">
                          <a:solidFill>
                            <a:schemeClr val="dk1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Arista vEOS в качестве leaf/spine коммутаторов;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2. </a:t>
                      </a:r>
                      <a:r>
                        <a:rPr b="0" lang="ru" sz="16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Континент 4 NGFW в качестве firewall между vrf;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3. </a:t>
                      </a:r>
                      <a:r>
                        <a:rPr b="0" lang="ru" sz="16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Astra Linux в качестве клиента;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4. </a:t>
                      </a:r>
                      <a:r>
                        <a:rPr b="0" lang="ru" sz="16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Windows Server в качестве клиента;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228960" y="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Что получилось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3" name="Google Shape;213;p42"/>
          <p:cNvGraphicFramePr/>
          <p:nvPr/>
        </p:nvGraphicFramePr>
        <p:xfrm>
          <a:off x="749160" y="606600"/>
          <a:ext cx="7238520" cy="5836680"/>
        </p:xfrm>
        <a:graphic>
          <a:graphicData uri="http://schemas.openxmlformats.org/drawingml/2006/table">
            <a:tbl>
              <a:tblPr/>
              <a:tblGrid>
                <a:gridCol w="325080"/>
                <a:gridCol w="6913440"/>
              </a:tblGrid>
              <a:tr h="59292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1. </a:t>
                      </a:r>
                      <a:r>
                        <a:rPr b="0" lang="ru" sz="1400" strike="noStrike" u="none">
                          <a:solidFill>
                            <a:schemeClr val="dk1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Спроектировать адресное пространство и архитектуру с учетом: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457200" indent="-317520">
                        <a:lnSpc>
                          <a:spcPct val="115000"/>
                        </a:lnSpc>
                        <a:buClr>
                          <a:srgbClr val="000000"/>
                        </a:buClr>
                        <a:buFont typeface="Roboto"/>
                        <a:buChar char="-"/>
                        <a:tabLst>
                          <a:tab algn="l" pos="0"/>
                        </a:tabLst>
                      </a:pPr>
                      <a:r>
                        <a:rPr b="0" lang="ru" sz="1400" strike="noStrike" u="none">
                          <a:solidFill>
                            <a:schemeClr val="dk1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Количества стоек в новом серверном помещении;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457200" indent="-31752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Roboto"/>
                        <a:buChar char="-"/>
                        <a:tabLst>
                          <a:tab algn="l" pos="0"/>
                        </a:tabLst>
                      </a:pPr>
                      <a:r>
                        <a:rPr b="0" lang="ru" sz="1400" strike="noStrike" u="none">
                          <a:solidFill>
                            <a:schemeClr val="dk1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Заложить возможностью тиражирования;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1945080"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Вводные: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Текущее количество стоек: 18, возможно расширение серверного помещения до 100стоек. Высота стоек 48U;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Полезная емкость стойки: 36U. За вычетом технических юнитов (БП, патч-панели, КРОСС, технические отступы);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Leaf коммутаторы 48 портов;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Решение: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Количество Leaf-коммутаторов = 2*18(стоек) = </a:t>
                      </a:r>
                      <a:r>
                        <a:rPr b="1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36</a:t>
                      </a:r>
                      <a:r>
                        <a:rPr b="0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;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Максимальное количество серверов в стойке = 36(U) - 2(U) = </a:t>
                      </a:r>
                      <a:r>
                        <a:rPr b="1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34</a:t>
                      </a:r>
                      <a:r>
                        <a:rPr b="0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;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Максимальное количество Spine = 48(портов) - 34(серверов) = </a:t>
                      </a:r>
                      <a:r>
                        <a:rPr b="1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14</a:t>
                      </a:r>
                      <a:r>
                        <a:rPr b="0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;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Максимальное количество серверов = 34*18 = </a:t>
                      </a:r>
                      <a:r>
                        <a:rPr b="1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612</a:t>
                      </a:r>
                      <a:r>
                        <a:rPr b="0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;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Подсеть leaf: 2 * 100 = 200. Нужна маска </a:t>
                      </a:r>
                      <a:r>
                        <a:rPr b="1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/23</a:t>
                      </a:r>
                      <a:r>
                        <a:rPr b="0" lang="ru" sz="14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Roboto"/>
                          <a:ea typeface="Roboto"/>
                        </a:rPr>
                        <a:t>.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465120"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63396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295920"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" descr=""/>
          <p:cNvPicPr/>
          <p:nvPr/>
        </p:nvPicPr>
        <p:blipFill>
          <a:blip r:embed="rId1"/>
          <a:stretch/>
        </p:blipFill>
        <p:spPr>
          <a:xfrm>
            <a:off x="0" y="783720"/>
            <a:ext cx="9143640" cy="425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228960" y="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Что получилось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1122840" y="434160"/>
            <a:ext cx="2837160" cy="375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ru" sz="16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2. </a:t>
            </a:r>
            <a:r>
              <a:rPr b="0" lang="ru" sz="1400" strike="noStrike" u="non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Roboto"/>
                <a:ea typeface="Roboto"/>
              </a:rPr>
              <a:t>Собрать тестовый стенд: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" descr=""/>
          <p:cNvPicPr/>
          <p:nvPr/>
        </p:nvPicPr>
        <p:blipFill>
          <a:blip r:embed="rId2"/>
          <a:stretch/>
        </p:blipFill>
        <p:spPr>
          <a:xfrm>
            <a:off x="8784000" y="4770000"/>
            <a:ext cx="223200" cy="237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228960" y="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Что получилось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9" name="Google Shape;226;p44"/>
          <p:cNvGraphicFramePr/>
          <p:nvPr/>
        </p:nvGraphicFramePr>
        <p:xfrm>
          <a:off x="376920" y="621360"/>
          <a:ext cx="7238520" cy="10911960"/>
        </p:xfrm>
        <a:graphic>
          <a:graphicData uri="http://schemas.openxmlformats.org/drawingml/2006/table">
            <a:tbl>
              <a:tblPr/>
              <a:tblGrid>
                <a:gridCol w="325080"/>
                <a:gridCol w="6913440"/>
              </a:tblGrid>
              <a:tr h="59292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3. </a:t>
                      </a:r>
                      <a:r>
                        <a:rPr b="0" lang="ru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Настроить underlay на Arista с использованием OSPF;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4. </a:t>
                      </a:r>
                      <a:r>
                        <a:rPr b="0" lang="ru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Настроить VxLAN l2VNI и L3VNI;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5. </a:t>
                      </a:r>
                      <a:r>
                        <a:rPr b="0" lang="ru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Настроить VxLAN Multihoming (ESI-LAG);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6. </a:t>
                      </a:r>
                      <a:r>
                        <a:rPr b="0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Создать несколько vrf (зоны безопасности: infra, sec, mgmt, adm);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7. </a:t>
                      </a:r>
                      <a:r>
                        <a:rPr b="0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Настроить bgp peering между каждым vrf и Континент 4 NGFW;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8. </a:t>
                      </a:r>
                      <a:r>
                        <a:rPr b="0" lang="ru" sz="16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Arial"/>
                          <a:ea typeface="Roboto"/>
                        </a:rPr>
                        <a:t>Настроить редистрибьюцию статических маршрутов на К4;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9. </a:t>
                      </a:r>
                      <a:r>
                        <a:rPr b="0" lang="ru" sz="16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Arial"/>
                          <a:ea typeface="Roboto"/>
                        </a:rPr>
                        <a:t>Настроить IPsec на К4;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10. </a:t>
                      </a:r>
                      <a:r>
                        <a:rPr b="0" lang="ru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Протестировать отказоустойчивость архитектуры;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1945080"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465120"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63396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295920"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228960" y="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Что получилось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228960" y="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trike="noStrike" u="none">
                <a:solidFill>
                  <a:srgbClr val="c9211e"/>
                </a:solidFill>
                <a:effectLst/>
                <a:uFillTx/>
                <a:latin typeface="Roboto"/>
                <a:ea typeface="Roboto"/>
              </a:rPr>
              <a:t>Что не получилось</a:t>
            </a:r>
            <a:endParaRPr b="0" lang="ru-RU" sz="3000" strike="noStrike" u="none">
              <a:solidFill>
                <a:srgbClr val="c9211e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2" name="Google Shape;226;p 1"/>
          <p:cNvGraphicFramePr/>
          <p:nvPr/>
        </p:nvGraphicFramePr>
        <p:xfrm>
          <a:off x="376920" y="621360"/>
          <a:ext cx="7238520" cy="10911960"/>
        </p:xfrm>
        <a:graphic>
          <a:graphicData uri="http://schemas.openxmlformats.org/drawingml/2006/table">
            <a:tbl>
              <a:tblPr/>
              <a:tblGrid>
                <a:gridCol w="325080"/>
                <a:gridCol w="6913440"/>
              </a:tblGrid>
              <a:tr h="59292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1. </a:t>
                      </a:r>
                      <a:r>
                        <a:rPr b="0" lang="ru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Настроить NGFW Континент 4 в качестве Spine;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        - в продукте используется birdc версии 2.13;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        - поддержка evpn vxlan добавлена начиная с версии 2.14;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        - будем ждать новых релизов ...;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        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2. </a:t>
                      </a:r>
                      <a:r>
                        <a:rPr b="0" lang="ru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Настройка bfd для IPSEC на NGFW Континент 4;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        - не удалось глубоко изучить вопрос, скорее всего есть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          техническая проблема, которую нужно решать с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          техподдержкой продукта;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1945080"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465120"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63396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295920"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228960" y="0"/>
            <a:ext cx="8520120" cy="109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3000" strike="noStrike" u="non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Выводы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4" name="Google Shape;226;p 2"/>
          <p:cNvGraphicFramePr/>
          <p:nvPr/>
        </p:nvGraphicFramePr>
        <p:xfrm>
          <a:off x="376920" y="621360"/>
          <a:ext cx="7238520" cy="10911960"/>
        </p:xfrm>
        <a:graphic>
          <a:graphicData uri="http://schemas.openxmlformats.org/drawingml/2006/table">
            <a:tbl>
              <a:tblPr/>
              <a:tblGrid>
                <a:gridCol w="325080"/>
                <a:gridCol w="7972560"/>
              </a:tblGrid>
              <a:tr h="59292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1. </a:t>
                      </a:r>
                      <a:r>
                        <a:rPr b="0" lang="ru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Мне удалось достичь ключевой цели – спроектировать сетевую фабрику 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2. </a:t>
                      </a:r>
                      <a:r>
                        <a:rPr b="0" lang="ru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Все технологии были разобраны на курсе, сложности возникли только с                настройками Континент 4 NGFW;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3. </a:t>
                      </a:r>
                      <a:r>
                        <a:rPr b="0" lang="ru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Общее время выполнения проекта – 20 часов;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4. </a:t>
                      </a:r>
                      <a:r>
                        <a:rPr b="0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Проект оказался очень полезным (10 баллов), как в части закрепления                  материалов курса, так и в качестве тестирования работы Континент 4;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5. </a:t>
                      </a:r>
                      <a:r>
                        <a:rPr b="0" lang="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Кажется, что нет, возможно, когда будет больше свободного времени,                    повторно ознакомлюсь с теорией для закрепления материала;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600" strike="noStrike" u="none">
                          <a:solidFill>
                            <a:srgbClr val="3f299a"/>
                          </a:solidFill>
                          <a:effectLst/>
                          <a:uFillTx/>
                          <a:latin typeface="Roboto"/>
                          <a:ea typeface="Roboto"/>
                        </a:rPr>
                        <a:t>6. </a:t>
                      </a:r>
                      <a:r>
                        <a:rPr b="0" lang="ru" sz="1600" strike="noStrike" u="none">
                          <a:solidFill>
                            <a:srgbClr val="0f1115"/>
                          </a:solidFill>
                          <a:effectLst/>
                          <a:highlight>
                            <a:srgbClr val="ffffff"/>
                          </a:highlight>
                          <a:uFillTx/>
                          <a:latin typeface="Arial"/>
                          <a:ea typeface="Roboto"/>
                        </a:rPr>
                        <a:t>Надеюсь переложить полученные знания на реальную продуктовую задачу          по внедрению технологии CLOS в свою инфраструктуру;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1945080"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465120"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633960">
                <a:tc>
                  <a:txBody>
                    <a:bodyPr lIns="19800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  <a:tr h="295920"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L>
                    <a:lnR w="9360">
                      <a:noFill/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8000" rIns="91080" tIns="91080" bIns="91080" anchor="t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8000" marR="91080">
                    <a:lnL w="9360">
                      <a:noFill/>
                      <a:prstDash val="solid"/>
                    </a:lnL>
                    <a:lnR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R>
                    <a:lnT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T>
                    <a:lnB w="9360">
                      <a:solidFill>
                        <a:srgbClr val="bfc1f0">
                          <a:alpha val="0"/>
                        </a:srgbClr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46;p 1" descr=""/>
          <p:cNvPicPr/>
          <p:nvPr/>
        </p:nvPicPr>
        <p:blipFill>
          <a:blip r:embed="rId1"/>
          <a:srcRect l="18595" t="0" r="18589" b="0"/>
          <a:stretch/>
        </p:blipFill>
        <p:spPr>
          <a:xfrm>
            <a:off x="-50400" y="-3276360"/>
            <a:ext cx="9408240" cy="836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Google Shape;149;p 1"/>
          <p:cNvSpPr/>
          <p:nvPr/>
        </p:nvSpPr>
        <p:spPr>
          <a:xfrm>
            <a:off x="3600000" y="2880000"/>
            <a:ext cx="2920320" cy="42624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Google Shape;147;p 1"/>
          <p:cNvSpPr/>
          <p:nvPr/>
        </p:nvSpPr>
        <p:spPr>
          <a:xfrm>
            <a:off x="450000" y="1416960"/>
            <a:ext cx="7584120" cy="12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90000"/>
              </a:lnSpc>
              <a:tabLst>
                <a:tab algn="l" pos="0"/>
              </a:tabLst>
            </a:pPr>
            <a:r>
              <a:rPr b="1" lang="ru" sz="40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Вопросы и рекомендации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Google Shape;148;p 1" descr=""/>
          <p:cNvPicPr/>
          <p:nvPr/>
        </p:nvPicPr>
        <p:blipFill>
          <a:blip r:embed="rId2"/>
          <a:stretch/>
        </p:blipFill>
        <p:spPr>
          <a:xfrm>
            <a:off x="7913880" y="268920"/>
            <a:ext cx="821880" cy="28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Google Shape;150;p 1"/>
          <p:cNvSpPr/>
          <p:nvPr/>
        </p:nvSpPr>
        <p:spPr>
          <a:xfrm>
            <a:off x="499680" y="2880000"/>
            <a:ext cx="286740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0" lang="ru" sz="1900" strike="noStrike" u="none">
                <a:solidFill>
                  <a:srgbClr val="ffffff"/>
                </a:solidFill>
                <a:effectLst/>
                <a:uFillTx/>
                <a:latin typeface="Roboto Medium"/>
                <a:ea typeface="Roboto Medium"/>
              </a:rPr>
              <a:t>+ Если есть вопросы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0" name="Google Shape;153;p 2" descr=""/>
          <p:cNvPicPr/>
          <p:nvPr/>
        </p:nvPicPr>
        <p:blipFill>
          <a:blip r:embed="rId3"/>
          <a:stretch/>
        </p:blipFill>
        <p:spPr>
          <a:xfrm>
            <a:off x="6588720" y="2289960"/>
            <a:ext cx="2511720" cy="251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Google Shape;150;p 2"/>
          <p:cNvSpPr/>
          <p:nvPr/>
        </p:nvSpPr>
        <p:spPr>
          <a:xfrm>
            <a:off x="499680" y="2880000"/>
            <a:ext cx="286740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0" lang="ru" sz="1900" strike="noStrike" u="none">
                <a:solidFill>
                  <a:srgbClr val="ffffff"/>
                </a:solidFill>
                <a:effectLst/>
                <a:uFillTx/>
                <a:latin typeface="Roboto Medium"/>
                <a:ea typeface="Roboto Medium"/>
              </a:rPr>
              <a:t>+ Если есть вопросы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150;p 5"/>
          <p:cNvSpPr/>
          <p:nvPr/>
        </p:nvSpPr>
        <p:spPr>
          <a:xfrm>
            <a:off x="3976920" y="2844000"/>
            <a:ext cx="286740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0" lang="ru" sz="1900" strike="noStrike" u="none">
                <a:solidFill>
                  <a:srgbClr val="ffffff"/>
                </a:solidFill>
                <a:effectLst/>
                <a:uFillTx/>
                <a:latin typeface="Roboto Medium"/>
                <a:ea typeface="Roboto Medium"/>
              </a:rPr>
              <a:t>Если вопросов нет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149;p 2"/>
          <p:cNvSpPr/>
          <p:nvPr/>
        </p:nvSpPr>
        <p:spPr>
          <a:xfrm>
            <a:off x="540000" y="2880000"/>
            <a:ext cx="2920320" cy="42624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150;p 3"/>
          <p:cNvSpPr/>
          <p:nvPr/>
        </p:nvSpPr>
        <p:spPr>
          <a:xfrm>
            <a:off x="895680" y="2844000"/>
            <a:ext cx="286740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0" lang="ru" sz="1900" strike="noStrike" u="none">
                <a:solidFill>
                  <a:srgbClr val="ffffff"/>
                </a:solidFill>
                <a:effectLst/>
                <a:uFillTx/>
                <a:latin typeface="Roboto Medium"/>
                <a:ea typeface="Roboto Medium"/>
              </a:rPr>
              <a:t>Если есть вопросы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720000" y="2697480"/>
            <a:ext cx="637920" cy="72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" sz="43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+</a:t>
            </a:r>
            <a:endParaRPr b="0" lang="ru-RU" sz="4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3872880" y="2697480"/>
            <a:ext cx="627120" cy="72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" sz="4300" strike="noStrike" u="none">
                <a:solidFill>
                  <a:schemeClr val="lt1"/>
                </a:solidFill>
                <a:effectLst/>
                <a:uFillTx/>
                <a:latin typeface="Roboto"/>
                <a:ea typeface="Roboto"/>
              </a:rPr>
              <a:t>– </a:t>
            </a:r>
            <a:endParaRPr b="0" lang="ru-RU" sz="4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LibreOffice/25.2.7.2$Windows_X86_64 LibreOffice_project/5cbfd1ab6520636bb5f7b99185aa69bd7456825d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ru-RU</dc:language>
  <cp:lastModifiedBy/>
  <dcterms:modified xsi:type="dcterms:W3CDTF">2026-03-06T03:38:23Z</dcterms:modified>
  <cp:revision>3</cp:revision>
  <dc:subject/>
  <dc:title/>
</cp:coreProperties>
</file>